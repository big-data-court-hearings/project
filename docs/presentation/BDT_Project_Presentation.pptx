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embeddedFontLst>
    <p:embeddedFont>
      <p:font typeface="Play"/>
      <p:regular r:id="rId20"/>
      <p:bold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2" roundtripDataSignature="AMtx7mibpzlyrru178hN5kuEmVqcffV4+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lay-regular.fntdata"/><Relationship Id="rId11" Type="http://schemas.openxmlformats.org/officeDocument/2006/relationships/slide" Target="slides/slide6.xml"/><Relationship Id="rId22" Type="http://customschemas.google.com/relationships/presentationmetadata" Target="metadata"/><Relationship Id="rId10" Type="http://schemas.openxmlformats.org/officeDocument/2006/relationships/slide" Target="slides/slide5.xml"/><Relationship Id="rId21" Type="http://schemas.openxmlformats.org/officeDocument/2006/relationships/font" Target="fonts/Play-bold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1" name="Google Shape;10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0" name="Google Shape;12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9" name="Google Shape;13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8" name="Google Shape;15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7" name="Google Shape;17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6" name="Google Shape;19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5" name="Google Shape;21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4" name="Google Shape;23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3" name="Google Shape;253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2" name="Google Shape;272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1" name="Google Shape;291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0" name="Google Shape;31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9" name="Google Shape;329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7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9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9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0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0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1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1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1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1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3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7F3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7818120" y="-685800"/>
            <a:ext cx="2377440" cy="2377440"/>
          </a:xfrm>
          <a:prstGeom prst="ellipse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-822960" y="3977639"/>
            <a:ext cx="2011680" cy="2011680"/>
          </a:xfrm>
          <a:prstGeom prst="ellipse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/>
          <p:nvPr/>
        </p:nvSpPr>
        <p:spPr>
          <a:xfrm>
            <a:off x="384048" y="457200"/>
            <a:ext cx="64008" cy="384048"/>
          </a:xfrm>
          <a:prstGeom prst="rect">
            <a:avLst/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"/>
          <p:cNvSpPr/>
          <p:nvPr/>
        </p:nvSpPr>
        <p:spPr>
          <a:xfrm>
            <a:off x="6693408" y="749808"/>
            <a:ext cx="1481328" cy="1152144"/>
          </a:xfrm>
          <a:prstGeom prst="roundRect">
            <a:avLst>
              <a:gd fmla="val 16667" name="adj"/>
            </a:avLst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530352" y="530352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BDT PROJECT TEMPLATE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530352" y="896112"/>
            <a:ext cx="53949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16293D"/>
                </a:solidFill>
                <a:latin typeface="Play"/>
                <a:ea typeface="Play"/>
                <a:cs typeface="Play"/>
                <a:sym typeface="Play"/>
              </a:rPr>
              <a:t>Court Case Backlog and Justice Delay Observatory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530350" y="1810500"/>
            <a:ext cx="70578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576575"/>
                </a:solidFill>
              </a:rPr>
              <a:t>Asia Panizza - asia.panizza@studenti.unitn.it, </a:t>
            </a:r>
            <a:endParaRPr sz="1200">
              <a:solidFill>
                <a:srgbClr val="576575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576575"/>
                </a:solidFill>
              </a:rPr>
              <a:t>Yasmin El Morady(267977) - yasmin.elmorady@studenti.unitn.it, </a:t>
            </a:r>
            <a:endParaRPr sz="1200">
              <a:solidFill>
                <a:srgbClr val="576575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576575"/>
                </a:solidFill>
              </a:rPr>
              <a:t>Henri Vasserot(264384) - henri.vasserot@studenti.unitn.it</a:t>
            </a:r>
            <a:endParaRPr b="0" i="0" sz="1200" u="none" cap="none" strike="noStrike">
              <a:solidFill>
                <a:srgbClr val="57657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Big Data Technologies 2026, 02/0</a:t>
            </a:r>
            <a:r>
              <a:rPr lang="en-US" sz="1200">
                <a:solidFill>
                  <a:srgbClr val="576575"/>
                </a:solidFill>
              </a:rPr>
              <a:t>7/2026</a:t>
            </a:r>
            <a:endParaRPr sz="1200">
              <a:solidFill>
                <a:srgbClr val="576575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sz="1200">
              <a:solidFill>
                <a:srgbClr val="576575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576575"/>
                </a:solidFill>
              </a:rPr>
              <a:t>O</a:t>
            </a:r>
            <a:r>
              <a:rPr b="0" i="0" lang="en-US" sz="12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ne-line project summary</a:t>
            </a:r>
            <a:r>
              <a:rPr lang="en-US" sz="1200">
                <a:solidFill>
                  <a:srgbClr val="576575"/>
                </a:solidFill>
              </a:rPr>
              <a:t> :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/>
          <p:nvPr/>
        </p:nvSpPr>
        <p:spPr>
          <a:xfrm>
            <a:off x="1380977" y="3280707"/>
            <a:ext cx="2907900" cy="1335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/>
          <p:nvPr/>
        </p:nvSpPr>
        <p:spPr>
          <a:xfrm>
            <a:off x="4489937" y="3280707"/>
            <a:ext cx="2121300" cy="1335000"/>
          </a:xfrm>
          <a:prstGeom prst="roundRect">
            <a:avLst>
              <a:gd fmla="val 16667" name="adj"/>
            </a:avLst>
          </a:prstGeom>
          <a:solidFill>
            <a:srgbClr val="E4F2EF"/>
          </a:solidFill>
          <a:ln cap="flat" cmpd="sng" w="10150">
            <a:solidFill>
              <a:srgbClr val="CEE4D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1600433" y="3481875"/>
            <a:ext cx="16458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Include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4709393" y="3481875"/>
            <a:ext cx="1463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Optional visual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1527281" y="3683043"/>
            <a:ext cx="26334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Project title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Team members and e-mails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Short summary of the project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"/>
          <p:cNvSpPr txBox="1"/>
          <p:nvPr/>
        </p:nvSpPr>
        <p:spPr>
          <a:xfrm>
            <a:off x="4636240" y="3683043"/>
            <a:ext cx="18105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Hero image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System motif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Key visual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"/>
          <p:cNvSpPr txBox="1"/>
          <p:nvPr/>
        </p:nvSpPr>
        <p:spPr>
          <a:xfrm>
            <a:off x="365760" y="4736592"/>
            <a:ext cx="749807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8894A1"/>
                </a:solidFill>
                <a:latin typeface="Arial"/>
                <a:ea typeface="Arial"/>
                <a:cs typeface="Arial"/>
                <a:sym typeface="Arial"/>
              </a:rPr>
              <a:t>BDT project template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"/>
          <p:cNvSpPr txBox="1"/>
          <p:nvPr/>
        </p:nvSpPr>
        <p:spPr>
          <a:xfrm>
            <a:off x="8366760" y="469087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7F3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"/>
          <p:cNvSpPr/>
          <p:nvPr/>
        </p:nvSpPr>
        <p:spPr>
          <a:xfrm>
            <a:off x="7818120" y="-685800"/>
            <a:ext cx="2377440" cy="2377440"/>
          </a:xfrm>
          <a:prstGeom prst="ellipse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/>
          <p:nvPr/>
        </p:nvSpPr>
        <p:spPr>
          <a:xfrm>
            <a:off x="-822960" y="3977639"/>
            <a:ext cx="2011680" cy="2011680"/>
          </a:xfrm>
          <a:prstGeom prst="ellipse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"/>
          <p:cNvSpPr/>
          <p:nvPr/>
        </p:nvSpPr>
        <p:spPr>
          <a:xfrm>
            <a:off x="384048" y="457200"/>
            <a:ext cx="64008" cy="384048"/>
          </a:xfrm>
          <a:prstGeom prst="rect">
            <a:avLst/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512064" y="292608"/>
            <a:ext cx="1417320" cy="274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TEAM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512064" y="658368"/>
            <a:ext cx="67665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6293D"/>
                </a:solidFill>
                <a:latin typeface="Play"/>
                <a:ea typeface="Play"/>
                <a:cs typeface="Play"/>
                <a:sym typeface="Play"/>
              </a:rPr>
              <a:t>Team, Roles, And Collaboration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512064" y="1078992"/>
            <a:ext cx="74980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Who worked on what, how the team collaborated, and each member's background.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2"/>
          <p:cNvSpPr/>
          <p:nvPr/>
        </p:nvSpPr>
        <p:spPr>
          <a:xfrm>
            <a:off x="512064" y="1554480"/>
            <a:ext cx="5394960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2"/>
          <p:cNvSpPr/>
          <p:nvPr/>
        </p:nvSpPr>
        <p:spPr>
          <a:xfrm>
            <a:off x="6126480" y="1554480"/>
            <a:ext cx="2505456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2"/>
          <p:cNvSpPr/>
          <p:nvPr/>
        </p:nvSpPr>
        <p:spPr>
          <a:xfrm>
            <a:off x="6126480" y="1554480"/>
            <a:ext cx="2505456" cy="201168"/>
          </a:xfrm>
          <a:prstGeom prst="rect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"/>
          <p:cNvSpPr txBox="1"/>
          <p:nvPr/>
        </p:nvSpPr>
        <p:spPr>
          <a:xfrm>
            <a:off x="749808" y="1773936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Content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6382512" y="1792224"/>
            <a:ext cx="1645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Optional additions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2"/>
          <p:cNvSpPr txBox="1"/>
          <p:nvPr/>
        </p:nvSpPr>
        <p:spPr>
          <a:xfrm>
            <a:off x="676656" y="2011680"/>
            <a:ext cx="4901100" cy="28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Team members and BSc background</a:t>
            </a:r>
            <a:endParaRPr b="0" i="0" sz="1600" u="none" cap="none" strike="noStrike">
              <a:solidFill>
                <a:srgbClr val="16293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100">
                <a:solidFill>
                  <a:schemeClr val="dk1"/>
                </a:solidFill>
              </a:rPr>
              <a:t>Asia Panizza - BSc in</a:t>
            </a:r>
            <a:endParaRPr sz="1600">
              <a:solidFill>
                <a:srgbClr val="16293D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100">
                <a:solidFill>
                  <a:schemeClr val="dk1"/>
                </a:solidFill>
              </a:rPr>
              <a:t>Yasmin El Morady - BSc in Psychology</a:t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100">
                <a:solidFill>
                  <a:schemeClr val="dk1"/>
                </a:solidFill>
              </a:rPr>
              <a:t>Henri Vasserot - BSC in Mathematics &amp; Philosophy</a:t>
            </a:r>
            <a:endParaRPr sz="1600">
              <a:solidFill>
                <a:srgbClr val="16293D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Main responsibilities per person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How the workload was divided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How the team interacted</a:t>
            </a:r>
            <a:endParaRPr b="0" i="0" sz="1600" u="none" cap="none" strike="noStrike">
              <a:solidFill>
                <a:srgbClr val="16293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100">
                <a:solidFill>
                  <a:srgbClr val="16293D"/>
                </a:solidFill>
              </a:rPr>
              <a:t>Google documents, online &amp; presential meetings</a:t>
            </a:r>
            <a:endParaRPr b="1" sz="1100">
              <a:solidFill>
                <a:srgbClr val="16293D"/>
              </a:solidFill>
            </a:endParaRPr>
          </a:p>
        </p:txBody>
      </p:sp>
      <p:sp>
        <p:nvSpPr>
          <p:cNvPr id="115" name="Google Shape;115;p2"/>
          <p:cNvSpPr txBox="1"/>
          <p:nvPr/>
        </p:nvSpPr>
        <p:spPr>
          <a:xfrm>
            <a:off x="6291072" y="2084831"/>
            <a:ext cx="2157984" cy="1810512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Timeline or task split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Shared tools/workflow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Cross-review process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365760" y="4736592"/>
            <a:ext cx="749807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8894A1"/>
                </a:solidFill>
                <a:latin typeface="Arial"/>
                <a:ea typeface="Arial"/>
                <a:cs typeface="Arial"/>
                <a:sym typeface="Arial"/>
              </a:rPr>
              <a:t>BDT project template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2"/>
          <p:cNvSpPr txBox="1"/>
          <p:nvPr/>
        </p:nvSpPr>
        <p:spPr>
          <a:xfrm>
            <a:off x="8366760" y="469087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7F3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"/>
          <p:cNvSpPr/>
          <p:nvPr/>
        </p:nvSpPr>
        <p:spPr>
          <a:xfrm>
            <a:off x="7818120" y="-685800"/>
            <a:ext cx="2377440" cy="2377440"/>
          </a:xfrm>
          <a:prstGeom prst="ellipse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-822960" y="3977639"/>
            <a:ext cx="2011680" cy="2011680"/>
          </a:xfrm>
          <a:prstGeom prst="ellipse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384048" y="457200"/>
            <a:ext cx="64008" cy="384048"/>
          </a:xfrm>
          <a:prstGeom prst="rect">
            <a:avLst/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512064" y="292608"/>
            <a:ext cx="1417320" cy="274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CONTEXT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3"/>
          <p:cNvSpPr txBox="1"/>
          <p:nvPr/>
        </p:nvSpPr>
        <p:spPr>
          <a:xfrm>
            <a:off x="512064" y="658368"/>
            <a:ext cx="67665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6293D"/>
                </a:solidFill>
                <a:latin typeface="Play"/>
                <a:ea typeface="Play"/>
                <a:cs typeface="Play"/>
                <a:sym typeface="Play"/>
              </a:rPr>
              <a:t>Project At A Glance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3"/>
          <p:cNvSpPr txBox="1"/>
          <p:nvPr/>
        </p:nvSpPr>
        <p:spPr>
          <a:xfrm>
            <a:off x="512064" y="1078992"/>
            <a:ext cx="74980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A compact summary of the project.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512064" y="1554480"/>
            <a:ext cx="5394960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/>
          <p:nvPr/>
        </p:nvSpPr>
        <p:spPr>
          <a:xfrm>
            <a:off x="6126480" y="1554480"/>
            <a:ext cx="2505456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3"/>
          <p:cNvSpPr/>
          <p:nvPr/>
        </p:nvSpPr>
        <p:spPr>
          <a:xfrm>
            <a:off x="6126480" y="1554480"/>
            <a:ext cx="2505456" cy="201168"/>
          </a:xfrm>
          <a:prstGeom prst="rect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"/>
          <p:cNvSpPr txBox="1"/>
          <p:nvPr/>
        </p:nvSpPr>
        <p:spPr>
          <a:xfrm>
            <a:off x="749808" y="1773936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Content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3"/>
          <p:cNvSpPr txBox="1"/>
          <p:nvPr/>
        </p:nvSpPr>
        <p:spPr>
          <a:xfrm>
            <a:off x="6382512" y="1792224"/>
            <a:ext cx="1645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Quick facts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3"/>
          <p:cNvSpPr txBox="1"/>
          <p:nvPr/>
        </p:nvSpPr>
        <p:spPr>
          <a:xfrm>
            <a:off x="676656" y="2011680"/>
            <a:ext cx="4901100" cy="16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Problem : </a:t>
            </a:r>
            <a:r>
              <a:rPr b="0" i="0" lang="en-US" sz="11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Judicial backlog and delays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Target user or stakeholder : </a:t>
            </a:r>
            <a:r>
              <a:rPr b="0" i="0" lang="en-US" sz="11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Policy makers, courts, researchers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Input data : </a:t>
            </a:r>
            <a:r>
              <a:rPr b="0" i="0" lang="en-US" sz="11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? Event-based case data ?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Main result : </a:t>
            </a:r>
            <a:r>
              <a:rPr b="0" i="0" lang="en-US" sz="11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? Metrics + dashboard + bottleneck detection ?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3"/>
          <p:cNvSpPr txBox="1"/>
          <p:nvPr/>
        </p:nvSpPr>
        <p:spPr>
          <a:xfrm>
            <a:off x="6300247" y="1975106"/>
            <a:ext cx="2157900" cy="23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Scale or time span</a:t>
            </a:r>
            <a:endParaRPr b="0" i="0" sz="1300" u="none" cap="none" strike="noStrike">
              <a:solidFill>
                <a:srgbClr val="16293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100">
                <a:solidFill>
                  <a:srgbClr val="16293D"/>
                </a:solidFill>
              </a:rPr>
              <a:t>Multi-year, large-scale, event-based judicial data</a:t>
            </a:r>
            <a:endParaRPr sz="1100">
              <a:solidFill>
                <a:srgbClr val="16293D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Pipeline summary</a:t>
            </a:r>
            <a:r>
              <a:rPr lang="en-US" sz="1300">
                <a:solidFill>
                  <a:srgbClr val="16293D"/>
                </a:solidFill>
              </a:rPr>
              <a:t>	</a:t>
            </a:r>
            <a:r>
              <a:rPr lang="en-US" sz="1100">
                <a:solidFill>
                  <a:srgbClr val="16293D"/>
                </a:solidFill>
              </a:rPr>
              <a:t>Ingestion → Cleaning → Storage → Processing → Visualization</a:t>
            </a:r>
            <a:endParaRPr sz="1100">
              <a:solidFill>
                <a:srgbClr val="16293D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Key metric</a:t>
            </a:r>
            <a:r>
              <a:rPr lang="en-US" sz="1300">
                <a:solidFill>
                  <a:srgbClr val="16293D"/>
                </a:solidFill>
              </a:rPr>
              <a:t>			</a:t>
            </a:r>
            <a:r>
              <a:rPr b="0" i="0" lang="en-US" sz="11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the resolution time, defined as the duration between case filing and final resolution.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3"/>
          <p:cNvSpPr txBox="1"/>
          <p:nvPr/>
        </p:nvSpPr>
        <p:spPr>
          <a:xfrm>
            <a:off x="365760" y="4736592"/>
            <a:ext cx="749807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8894A1"/>
                </a:solidFill>
                <a:latin typeface="Arial"/>
                <a:ea typeface="Arial"/>
                <a:cs typeface="Arial"/>
                <a:sym typeface="Arial"/>
              </a:rPr>
              <a:t>BDT project template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3"/>
          <p:cNvSpPr txBox="1"/>
          <p:nvPr/>
        </p:nvSpPr>
        <p:spPr>
          <a:xfrm>
            <a:off x="8366760" y="469087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7F3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4"/>
          <p:cNvSpPr/>
          <p:nvPr/>
        </p:nvSpPr>
        <p:spPr>
          <a:xfrm>
            <a:off x="7818120" y="-685800"/>
            <a:ext cx="2377440" cy="2377440"/>
          </a:xfrm>
          <a:prstGeom prst="ellipse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4"/>
          <p:cNvSpPr/>
          <p:nvPr/>
        </p:nvSpPr>
        <p:spPr>
          <a:xfrm>
            <a:off x="-822960" y="3977639"/>
            <a:ext cx="2011680" cy="2011680"/>
          </a:xfrm>
          <a:prstGeom prst="ellipse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4"/>
          <p:cNvSpPr/>
          <p:nvPr/>
        </p:nvSpPr>
        <p:spPr>
          <a:xfrm>
            <a:off x="384048" y="457200"/>
            <a:ext cx="64008" cy="384048"/>
          </a:xfrm>
          <a:prstGeom prst="rect">
            <a:avLst/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4"/>
          <p:cNvSpPr/>
          <p:nvPr/>
        </p:nvSpPr>
        <p:spPr>
          <a:xfrm>
            <a:off x="512064" y="292608"/>
            <a:ext cx="1417320" cy="274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PROBLEM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4"/>
          <p:cNvSpPr txBox="1"/>
          <p:nvPr/>
        </p:nvSpPr>
        <p:spPr>
          <a:xfrm>
            <a:off x="512064" y="658368"/>
            <a:ext cx="67665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6293D"/>
                </a:solidFill>
                <a:latin typeface="Play"/>
                <a:ea typeface="Play"/>
                <a:cs typeface="Play"/>
                <a:sym typeface="Play"/>
              </a:rPr>
              <a:t>Problem And Motivation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4"/>
          <p:cNvSpPr txBox="1"/>
          <p:nvPr/>
        </p:nvSpPr>
        <p:spPr>
          <a:xfrm>
            <a:off x="512064" y="1078992"/>
            <a:ext cx="74980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Why this project matters and what it is trying to solve.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4"/>
          <p:cNvSpPr/>
          <p:nvPr/>
        </p:nvSpPr>
        <p:spPr>
          <a:xfrm>
            <a:off x="512064" y="1554480"/>
            <a:ext cx="5394960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4"/>
          <p:cNvSpPr/>
          <p:nvPr/>
        </p:nvSpPr>
        <p:spPr>
          <a:xfrm>
            <a:off x="6126480" y="1554480"/>
            <a:ext cx="2505456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6126480" y="1554480"/>
            <a:ext cx="2505456" cy="201168"/>
          </a:xfrm>
          <a:prstGeom prst="rect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 txBox="1"/>
          <p:nvPr/>
        </p:nvSpPr>
        <p:spPr>
          <a:xfrm>
            <a:off x="749808" y="1773936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Content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4"/>
          <p:cNvSpPr txBox="1"/>
          <p:nvPr/>
        </p:nvSpPr>
        <p:spPr>
          <a:xfrm>
            <a:off x="6382512" y="1792224"/>
            <a:ext cx="1645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Optional additions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"/>
          <p:cNvSpPr txBox="1"/>
          <p:nvPr/>
        </p:nvSpPr>
        <p:spPr>
          <a:xfrm>
            <a:off x="676656" y="2011680"/>
            <a:ext cx="4901100" cy="2024100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Problem statement : </a:t>
            </a:r>
            <a:r>
              <a:rPr b="0" i="0" lang="en-US" sz="11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Judicial systems face growing backlogs and delays due to imbalance between incoming and resolved cases.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Why it matters : </a:t>
            </a:r>
            <a:r>
              <a:rPr b="0" i="0" lang="en-US" sz="11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Delays reduce fairness, transparency, and efficiency of justice systems.</a:t>
            </a:r>
            <a:endParaRPr sz="1100">
              <a:solidFill>
                <a:srgbClr val="16293D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Goal or success metric : ? </a:t>
            </a:r>
            <a:r>
              <a:rPr b="0" i="0" lang="en-US" sz="11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Build a data-driven system to monitor delays and detect bottlenecks. ?</a:t>
            </a:r>
            <a:endParaRPr sz="1100">
              <a:solidFill>
                <a:srgbClr val="16293D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Scope : </a:t>
            </a:r>
            <a:r>
              <a:rPr b="0" i="0" lang="en-US" sz="11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Multi-court, multi-case analysis over time.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4"/>
          <p:cNvSpPr txBox="1"/>
          <p:nvPr/>
        </p:nvSpPr>
        <p:spPr>
          <a:xfrm>
            <a:off x="6300247" y="1975106"/>
            <a:ext cx="2157900" cy="26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Example use case		</a:t>
            </a:r>
            <a:r>
              <a:rPr b="0" i="0" lang="en-US" sz="11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A policy maker identifies courts with excessive delays and reallocates resources.</a:t>
            </a:r>
            <a:endParaRPr sz="1100">
              <a:solidFill>
                <a:srgbClr val="16293D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Target audience 		</a:t>
            </a:r>
            <a:r>
              <a:rPr b="0" i="0" lang="en-US" sz="11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Policy makers, court administrators, researchers.</a:t>
            </a:r>
            <a:endParaRPr sz="1300">
              <a:solidFill>
                <a:srgbClr val="16293D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Main assumption		</a:t>
            </a:r>
            <a:r>
              <a:rPr lang="en-US" sz="1100">
                <a:solidFill>
                  <a:srgbClr val="16293D"/>
                </a:solidFill>
              </a:rPr>
              <a:t>Judicial processes can be modeled as event-based data with measurable delays.</a:t>
            </a:r>
            <a:endParaRPr sz="1100">
              <a:solidFill>
                <a:srgbClr val="16293D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sz="1300">
              <a:solidFill>
                <a:srgbClr val="16293D"/>
              </a:solidFill>
            </a:endParaRPr>
          </a:p>
        </p:txBody>
      </p:sp>
      <p:sp>
        <p:nvSpPr>
          <p:cNvPr id="154" name="Google Shape;154;p4"/>
          <p:cNvSpPr txBox="1"/>
          <p:nvPr/>
        </p:nvSpPr>
        <p:spPr>
          <a:xfrm>
            <a:off x="365760" y="4736592"/>
            <a:ext cx="749807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8894A1"/>
                </a:solidFill>
                <a:latin typeface="Arial"/>
                <a:ea typeface="Arial"/>
                <a:cs typeface="Arial"/>
                <a:sym typeface="Arial"/>
              </a:rPr>
              <a:t>BDT project template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4"/>
          <p:cNvSpPr txBox="1"/>
          <p:nvPr/>
        </p:nvSpPr>
        <p:spPr>
          <a:xfrm>
            <a:off x="8366760" y="469087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7F3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5"/>
          <p:cNvSpPr/>
          <p:nvPr/>
        </p:nvSpPr>
        <p:spPr>
          <a:xfrm>
            <a:off x="7818120" y="-685800"/>
            <a:ext cx="2377440" cy="2377440"/>
          </a:xfrm>
          <a:prstGeom prst="ellipse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-822960" y="3977639"/>
            <a:ext cx="2011680" cy="2011680"/>
          </a:xfrm>
          <a:prstGeom prst="ellipse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384048" y="457200"/>
            <a:ext cx="64008" cy="384048"/>
          </a:xfrm>
          <a:prstGeom prst="rect">
            <a:avLst/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512064" y="292608"/>
            <a:ext cx="1417320" cy="274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SCALE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5"/>
          <p:cNvSpPr txBox="1"/>
          <p:nvPr/>
        </p:nvSpPr>
        <p:spPr>
          <a:xfrm>
            <a:off x="512064" y="658368"/>
            <a:ext cx="67665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6293D"/>
                </a:solidFill>
                <a:latin typeface="Play"/>
                <a:ea typeface="Play"/>
                <a:cs typeface="Play"/>
                <a:sym typeface="Play"/>
              </a:rPr>
              <a:t>Why This Is A Big Data Problem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5"/>
          <p:cNvSpPr txBox="1"/>
          <p:nvPr/>
        </p:nvSpPr>
        <p:spPr>
          <a:xfrm>
            <a:off x="512064" y="1078992"/>
            <a:ext cx="74980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Explain the scale or complexity that motivates the architecture.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512064" y="1554480"/>
            <a:ext cx="5394960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6126480" y="1554480"/>
            <a:ext cx="2505456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6126480" y="1554480"/>
            <a:ext cx="2505456" cy="201168"/>
          </a:xfrm>
          <a:prstGeom prst="rect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5"/>
          <p:cNvSpPr txBox="1"/>
          <p:nvPr/>
        </p:nvSpPr>
        <p:spPr>
          <a:xfrm>
            <a:off x="749808" y="1773936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Content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5"/>
          <p:cNvSpPr txBox="1"/>
          <p:nvPr/>
        </p:nvSpPr>
        <p:spPr>
          <a:xfrm>
            <a:off x="6382512" y="1792224"/>
            <a:ext cx="1645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Optional additions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5"/>
          <p:cNvSpPr txBox="1"/>
          <p:nvPr/>
        </p:nvSpPr>
        <p:spPr>
          <a:xfrm>
            <a:off x="676656" y="2011680"/>
            <a:ext cx="4901100" cy="2362800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Volume</a:t>
            </a:r>
            <a:r>
              <a:rPr lang="en-US" sz="1600">
                <a:solidFill>
                  <a:srgbClr val="16293D"/>
                </a:solidFill>
              </a:rPr>
              <a:t> </a:t>
            </a:r>
            <a:r>
              <a:rPr lang="en-US" sz="1100">
                <a:solidFill>
                  <a:srgbClr val="16293D"/>
                </a:solidFill>
              </a:rPr>
              <a:t>Large number of cases and events across courts (thousands to millions).</a:t>
            </a:r>
            <a:endParaRPr sz="1100">
              <a:solidFill>
                <a:srgbClr val="16293D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Variety </a:t>
            </a:r>
            <a:r>
              <a:rPr b="0" i="0" lang="en-US" sz="11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Heterogeneous data: case records, ?hearings?, timestamps, jurisdictions.</a:t>
            </a:r>
            <a:endParaRPr sz="1100">
              <a:solidFill>
                <a:srgbClr val="16293D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Velocity or refresh rate : </a:t>
            </a:r>
            <a:r>
              <a:rPr b="0" i="0" lang="en-US" sz="11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Continuous updates as new cases and events are generated.</a:t>
            </a:r>
            <a:endParaRPr sz="1100">
              <a:solidFill>
                <a:srgbClr val="16293D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Why the chosen architecture helps : </a:t>
            </a:r>
            <a:r>
              <a:rPr b="0" i="0" lang="en-US" sz="11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Enables scalable storage, efficient processing, and temporal analysis of large event-based data.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5"/>
          <p:cNvSpPr txBox="1"/>
          <p:nvPr/>
        </p:nvSpPr>
        <p:spPr>
          <a:xfrm>
            <a:off x="6291072" y="2084831"/>
            <a:ext cx="2157900" cy="2008800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Approximate data size 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Growth expectation </a:t>
            </a:r>
            <a:r>
              <a:rPr b="0" i="0" lang="en-US" sz="11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Constant increase with incoming cases</a:t>
            </a:r>
            <a:endParaRPr sz="1300">
              <a:solidFill>
                <a:srgbClr val="16293D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Key bottleneck 	</a:t>
            </a:r>
            <a:r>
              <a:rPr b="0" i="0" lang="en-US" sz="11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Processing and aggregating temporal event data efficiently</a:t>
            </a:r>
            <a:endParaRPr b="0" i="0" sz="1100" u="none" cap="none" strike="noStrike">
              <a:solidFill>
                <a:srgbClr val="16293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sz="1300">
              <a:solidFill>
                <a:srgbClr val="16293D"/>
              </a:solidFill>
            </a:endParaRPr>
          </a:p>
        </p:txBody>
      </p:sp>
      <p:sp>
        <p:nvSpPr>
          <p:cNvPr id="173" name="Google Shape;173;p5"/>
          <p:cNvSpPr txBox="1"/>
          <p:nvPr/>
        </p:nvSpPr>
        <p:spPr>
          <a:xfrm>
            <a:off x="365760" y="4736592"/>
            <a:ext cx="749807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8894A1"/>
                </a:solidFill>
                <a:latin typeface="Arial"/>
                <a:ea typeface="Arial"/>
                <a:cs typeface="Arial"/>
                <a:sym typeface="Arial"/>
              </a:rPr>
              <a:t>BDT project template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5"/>
          <p:cNvSpPr txBox="1"/>
          <p:nvPr/>
        </p:nvSpPr>
        <p:spPr>
          <a:xfrm>
            <a:off x="8366760" y="469087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7F3"/>
        </a:solid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6"/>
          <p:cNvSpPr/>
          <p:nvPr/>
        </p:nvSpPr>
        <p:spPr>
          <a:xfrm>
            <a:off x="7818120" y="-685800"/>
            <a:ext cx="2377440" cy="2377440"/>
          </a:xfrm>
          <a:prstGeom prst="ellipse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6"/>
          <p:cNvSpPr/>
          <p:nvPr/>
        </p:nvSpPr>
        <p:spPr>
          <a:xfrm>
            <a:off x="-822960" y="3977639"/>
            <a:ext cx="2011680" cy="2011680"/>
          </a:xfrm>
          <a:prstGeom prst="ellipse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6"/>
          <p:cNvSpPr/>
          <p:nvPr/>
        </p:nvSpPr>
        <p:spPr>
          <a:xfrm>
            <a:off x="384048" y="457200"/>
            <a:ext cx="64008" cy="384048"/>
          </a:xfrm>
          <a:prstGeom prst="rect">
            <a:avLst/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6"/>
          <p:cNvSpPr/>
          <p:nvPr/>
        </p:nvSpPr>
        <p:spPr>
          <a:xfrm>
            <a:off x="512064" y="292608"/>
            <a:ext cx="1417320" cy="274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DATA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6"/>
          <p:cNvSpPr txBox="1"/>
          <p:nvPr/>
        </p:nvSpPr>
        <p:spPr>
          <a:xfrm>
            <a:off x="512064" y="658368"/>
            <a:ext cx="67665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6293D"/>
                </a:solidFill>
                <a:latin typeface="Play"/>
                <a:ea typeface="Play"/>
                <a:cs typeface="Play"/>
                <a:sym typeface="Play"/>
              </a:rPr>
              <a:t>Data Sources, Quality, And Scope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6"/>
          <p:cNvSpPr txBox="1"/>
          <p:nvPr/>
        </p:nvSpPr>
        <p:spPr>
          <a:xfrm>
            <a:off x="512064" y="1078992"/>
            <a:ext cx="74980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Summarize the data used in the project.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6"/>
          <p:cNvSpPr/>
          <p:nvPr/>
        </p:nvSpPr>
        <p:spPr>
          <a:xfrm>
            <a:off x="512064" y="1554480"/>
            <a:ext cx="5394960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6"/>
          <p:cNvSpPr/>
          <p:nvPr/>
        </p:nvSpPr>
        <p:spPr>
          <a:xfrm>
            <a:off x="6126480" y="1554480"/>
            <a:ext cx="2505456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/>
          <p:nvPr/>
        </p:nvSpPr>
        <p:spPr>
          <a:xfrm>
            <a:off x="6126480" y="1554480"/>
            <a:ext cx="2505456" cy="201168"/>
          </a:xfrm>
          <a:prstGeom prst="rect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 txBox="1"/>
          <p:nvPr/>
        </p:nvSpPr>
        <p:spPr>
          <a:xfrm>
            <a:off x="749808" y="1773936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Content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6"/>
          <p:cNvSpPr txBox="1"/>
          <p:nvPr/>
        </p:nvSpPr>
        <p:spPr>
          <a:xfrm>
            <a:off x="6382512" y="1792224"/>
            <a:ext cx="1645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Optional additions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6"/>
          <p:cNvSpPr txBox="1"/>
          <p:nvPr/>
        </p:nvSpPr>
        <p:spPr>
          <a:xfrm>
            <a:off x="676656" y="2011680"/>
            <a:ext cx="4901184" cy="1993392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Data sources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Coverage and format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Quality issues or constraints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Preprocessing steps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6"/>
          <p:cNvSpPr txBox="1"/>
          <p:nvPr/>
        </p:nvSpPr>
        <p:spPr>
          <a:xfrm>
            <a:off x="6291072" y="2084831"/>
            <a:ext cx="2157984" cy="1810512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Schema snapshot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Sample table or plot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Data exclusions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6"/>
          <p:cNvSpPr txBox="1"/>
          <p:nvPr/>
        </p:nvSpPr>
        <p:spPr>
          <a:xfrm>
            <a:off x="365760" y="4736592"/>
            <a:ext cx="749807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8894A1"/>
                </a:solidFill>
                <a:latin typeface="Arial"/>
                <a:ea typeface="Arial"/>
                <a:cs typeface="Arial"/>
                <a:sym typeface="Arial"/>
              </a:rPr>
              <a:t>BDT project template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6"/>
          <p:cNvSpPr txBox="1"/>
          <p:nvPr/>
        </p:nvSpPr>
        <p:spPr>
          <a:xfrm>
            <a:off x="8366760" y="469087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7F3"/>
        </a:solidFill>
      </p:bgPr>
    </p:bg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7"/>
          <p:cNvSpPr/>
          <p:nvPr/>
        </p:nvSpPr>
        <p:spPr>
          <a:xfrm>
            <a:off x="7818120" y="-685800"/>
            <a:ext cx="2377440" cy="2377440"/>
          </a:xfrm>
          <a:prstGeom prst="ellipse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-822960" y="3977639"/>
            <a:ext cx="2011680" cy="2011680"/>
          </a:xfrm>
          <a:prstGeom prst="ellipse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384048" y="457200"/>
            <a:ext cx="64008" cy="384048"/>
          </a:xfrm>
          <a:prstGeom prst="rect">
            <a:avLst/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7"/>
          <p:cNvSpPr/>
          <p:nvPr/>
        </p:nvSpPr>
        <p:spPr>
          <a:xfrm>
            <a:off x="512064" y="292608"/>
            <a:ext cx="1417320" cy="274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ARCHITECTURE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7"/>
          <p:cNvSpPr txBox="1"/>
          <p:nvPr/>
        </p:nvSpPr>
        <p:spPr>
          <a:xfrm>
            <a:off x="512064" y="658368"/>
            <a:ext cx="67665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6293D"/>
                </a:solidFill>
                <a:latin typeface="Play"/>
                <a:ea typeface="Play"/>
                <a:cs typeface="Play"/>
                <a:sym typeface="Play"/>
              </a:rPr>
              <a:t>Architecture Overview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7"/>
          <p:cNvSpPr txBox="1"/>
          <p:nvPr/>
        </p:nvSpPr>
        <p:spPr>
          <a:xfrm>
            <a:off x="512064" y="1078992"/>
            <a:ext cx="74980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Main components of the system and how they connect.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7"/>
          <p:cNvSpPr/>
          <p:nvPr/>
        </p:nvSpPr>
        <p:spPr>
          <a:xfrm>
            <a:off x="512064" y="1554480"/>
            <a:ext cx="2011680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7"/>
          <p:cNvSpPr/>
          <p:nvPr/>
        </p:nvSpPr>
        <p:spPr>
          <a:xfrm>
            <a:off x="2761488" y="1554480"/>
            <a:ext cx="5870448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7"/>
          <p:cNvSpPr/>
          <p:nvPr/>
        </p:nvSpPr>
        <p:spPr>
          <a:xfrm>
            <a:off x="2761488" y="1554480"/>
            <a:ext cx="5870448" cy="201168"/>
          </a:xfrm>
          <a:prstGeom prst="rect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7"/>
          <p:cNvSpPr txBox="1"/>
          <p:nvPr/>
        </p:nvSpPr>
        <p:spPr>
          <a:xfrm>
            <a:off x="731520" y="178308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Suggested labels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7"/>
          <p:cNvSpPr txBox="1"/>
          <p:nvPr/>
        </p:nvSpPr>
        <p:spPr>
          <a:xfrm>
            <a:off x="2980944" y="1783080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947C5B"/>
                </a:solidFill>
                <a:latin typeface="Arial"/>
                <a:ea typeface="Arial"/>
                <a:cs typeface="Arial"/>
                <a:sym typeface="Arial"/>
              </a:rPr>
              <a:t>Diagram area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7"/>
          <p:cNvSpPr txBox="1"/>
          <p:nvPr/>
        </p:nvSpPr>
        <p:spPr>
          <a:xfrm>
            <a:off x="658368" y="2011680"/>
            <a:ext cx="1664208" cy="1993392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Sources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Storage layers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Processing jobs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Serving layer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Interfaces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7"/>
          <p:cNvSpPr/>
          <p:nvPr/>
        </p:nvSpPr>
        <p:spPr>
          <a:xfrm>
            <a:off x="2980944" y="1993392"/>
            <a:ext cx="5431536" cy="1938528"/>
          </a:xfrm>
          <a:prstGeom prst="roundRect">
            <a:avLst>
              <a:gd fmla="val 16667" name="adj"/>
            </a:avLst>
          </a:prstGeom>
          <a:solidFill>
            <a:srgbClr val="EEF1F4"/>
          </a:solidFill>
          <a:ln cap="flat" cmpd="sng" w="10150">
            <a:solidFill>
              <a:srgbClr val="D3D9D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8894A1"/>
                </a:solidFill>
                <a:latin typeface="Play"/>
                <a:ea typeface="Play"/>
                <a:cs typeface="Play"/>
                <a:sym typeface="Play"/>
              </a:rPr>
              <a:t>[Insert architecture diagram here]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7"/>
          <p:cNvSpPr txBox="1"/>
          <p:nvPr/>
        </p:nvSpPr>
        <p:spPr>
          <a:xfrm>
            <a:off x="365760" y="4736592"/>
            <a:ext cx="749807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8894A1"/>
                </a:solidFill>
                <a:latin typeface="Arial"/>
                <a:ea typeface="Arial"/>
                <a:cs typeface="Arial"/>
                <a:sym typeface="Arial"/>
              </a:rPr>
              <a:t>BDT project template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7"/>
          <p:cNvSpPr txBox="1"/>
          <p:nvPr/>
        </p:nvSpPr>
        <p:spPr>
          <a:xfrm>
            <a:off x="8366760" y="469087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7F3"/>
        </a:solid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8"/>
          <p:cNvSpPr/>
          <p:nvPr/>
        </p:nvSpPr>
        <p:spPr>
          <a:xfrm>
            <a:off x="7818120" y="-685800"/>
            <a:ext cx="2377440" cy="2377440"/>
          </a:xfrm>
          <a:prstGeom prst="ellipse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8"/>
          <p:cNvSpPr/>
          <p:nvPr/>
        </p:nvSpPr>
        <p:spPr>
          <a:xfrm>
            <a:off x="-822960" y="3977639"/>
            <a:ext cx="2011680" cy="2011680"/>
          </a:xfrm>
          <a:prstGeom prst="ellipse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8"/>
          <p:cNvSpPr/>
          <p:nvPr/>
        </p:nvSpPr>
        <p:spPr>
          <a:xfrm>
            <a:off x="384048" y="457200"/>
            <a:ext cx="64008" cy="384048"/>
          </a:xfrm>
          <a:prstGeom prst="rect">
            <a:avLst/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8"/>
          <p:cNvSpPr/>
          <p:nvPr/>
        </p:nvSpPr>
        <p:spPr>
          <a:xfrm>
            <a:off x="512064" y="292608"/>
            <a:ext cx="1417320" cy="274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PIPELINE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8"/>
          <p:cNvSpPr txBox="1"/>
          <p:nvPr/>
        </p:nvSpPr>
        <p:spPr>
          <a:xfrm>
            <a:off x="512064" y="658368"/>
            <a:ext cx="67665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6293D"/>
                </a:solidFill>
                <a:latin typeface="Play"/>
                <a:ea typeface="Play"/>
                <a:cs typeface="Play"/>
                <a:sym typeface="Play"/>
              </a:rPr>
              <a:t>Data Flow, Runtime, And Deployment 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8"/>
          <p:cNvSpPr txBox="1"/>
          <p:nvPr/>
        </p:nvSpPr>
        <p:spPr>
          <a:xfrm>
            <a:off x="512064" y="1078992"/>
            <a:ext cx="74980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How data moves from ingestion to output.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8"/>
          <p:cNvSpPr/>
          <p:nvPr/>
        </p:nvSpPr>
        <p:spPr>
          <a:xfrm>
            <a:off x="512064" y="1554480"/>
            <a:ext cx="2011680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8"/>
          <p:cNvSpPr/>
          <p:nvPr/>
        </p:nvSpPr>
        <p:spPr>
          <a:xfrm>
            <a:off x="2761488" y="1554480"/>
            <a:ext cx="5870448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8"/>
          <p:cNvSpPr/>
          <p:nvPr/>
        </p:nvSpPr>
        <p:spPr>
          <a:xfrm>
            <a:off x="2761488" y="1554480"/>
            <a:ext cx="5870448" cy="201168"/>
          </a:xfrm>
          <a:prstGeom prst="rect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8"/>
          <p:cNvSpPr txBox="1"/>
          <p:nvPr/>
        </p:nvSpPr>
        <p:spPr>
          <a:xfrm>
            <a:off x="731520" y="178308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Suggested labels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8"/>
          <p:cNvSpPr txBox="1"/>
          <p:nvPr/>
        </p:nvSpPr>
        <p:spPr>
          <a:xfrm>
            <a:off x="2980944" y="1783080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947C5B"/>
                </a:solidFill>
                <a:latin typeface="Arial"/>
                <a:ea typeface="Arial"/>
                <a:cs typeface="Arial"/>
                <a:sym typeface="Arial"/>
              </a:rPr>
              <a:t>Flow diagram area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8"/>
          <p:cNvSpPr txBox="1"/>
          <p:nvPr/>
        </p:nvSpPr>
        <p:spPr>
          <a:xfrm>
            <a:off x="658368" y="2011680"/>
            <a:ext cx="1664208" cy="1993392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Ingestion mode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Execution order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Artifacts written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Deployment/runtime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Outputs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8"/>
          <p:cNvSpPr/>
          <p:nvPr/>
        </p:nvSpPr>
        <p:spPr>
          <a:xfrm>
            <a:off x="2980944" y="1993392"/>
            <a:ext cx="5431536" cy="1938528"/>
          </a:xfrm>
          <a:prstGeom prst="roundRect">
            <a:avLst>
              <a:gd fmla="val 16667" name="adj"/>
            </a:avLst>
          </a:prstGeom>
          <a:solidFill>
            <a:srgbClr val="EEF1F4"/>
          </a:solidFill>
          <a:ln cap="flat" cmpd="sng" w="10150">
            <a:solidFill>
              <a:srgbClr val="D3D9D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8894A1"/>
                </a:solidFill>
                <a:latin typeface="Play"/>
                <a:ea typeface="Play"/>
                <a:cs typeface="Play"/>
                <a:sym typeface="Play"/>
              </a:rPr>
              <a:t>[Insert pipeline, sequence, or deployment diagram here]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8"/>
          <p:cNvSpPr txBox="1"/>
          <p:nvPr/>
        </p:nvSpPr>
        <p:spPr>
          <a:xfrm>
            <a:off x="365760" y="4736592"/>
            <a:ext cx="749807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8894A1"/>
                </a:solidFill>
                <a:latin typeface="Arial"/>
                <a:ea typeface="Arial"/>
                <a:cs typeface="Arial"/>
                <a:sym typeface="Arial"/>
              </a:rPr>
              <a:t>BDT project template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8"/>
          <p:cNvSpPr txBox="1"/>
          <p:nvPr/>
        </p:nvSpPr>
        <p:spPr>
          <a:xfrm>
            <a:off x="8366760" y="469087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7F3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9"/>
          <p:cNvSpPr/>
          <p:nvPr/>
        </p:nvSpPr>
        <p:spPr>
          <a:xfrm>
            <a:off x="7818120" y="-685800"/>
            <a:ext cx="2377440" cy="2377440"/>
          </a:xfrm>
          <a:prstGeom prst="ellipse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-822960" y="3977639"/>
            <a:ext cx="2011680" cy="2011680"/>
          </a:xfrm>
          <a:prstGeom prst="ellipse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9"/>
          <p:cNvSpPr/>
          <p:nvPr/>
        </p:nvSpPr>
        <p:spPr>
          <a:xfrm>
            <a:off x="384048" y="457200"/>
            <a:ext cx="64008" cy="384048"/>
          </a:xfrm>
          <a:prstGeom prst="rect">
            <a:avLst/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9"/>
          <p:cNvSpPr/>
          <p:nvPr/>
        </p:nvSpPr>
        <p:spPr>
          <a:xfrm>
            <a:off x="512064" y="292608"/>
            <a:ext cx="1417320" cy="274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CHOICES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9"/>
          <p:cNvSpPr txBox="1"/>
          <p:nvPr/>
        </p:nvSpPr>
        <p:spPr>
          <a:xfrm>
            <a:off x="512064" y="658368"/>
            <a:ext cx="67665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6293D"/>
                </a:solidFill>
                <a:latin typeface="Play"/>
                <a:ea typeface="Play"/>
                <a:cs typeface="Play"/>
                <a:sym typeface="Play"/>
              </a:rPr>
              <a:t>Design Decisions And Trade-offs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9"/>
          <p:cNvSpPr txBox="1"/>
          <p:nvPr/>
        </p:nvSpPr>
        <p:spPr>
          <a:xfrm>
            <a:off x="512064" y="1078992"/>
            <a:ext cx="74980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Key technology choices behind the project.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9"/>
          <p:cNvSpPr/>
          <p:nvPr/>
        </p:nvSpPr>
        <p:spPr>
          <a:xfrm>
            <a:off x="512064" y="1554480"/>
            <a:ext cx="5394960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9"/>
          <p:cNvSpPr/>
          <p:nvPr/>
        </p:nvSpPr>
        <p:spPr>
          <a:xfrm>
            <a:off x="6126480" y="1554480"/>
            <a:ext cx="2505456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9"/>
          <p:cNvSpPr/>
          <p:nvPr/>
        </p:nvSpPr>
        <p:spPr>
          <a:xfrm>
            <a:off x="6126480" y="1554480"/>
            <a:ext cx="2505456" cy="201168"/>
          </a:xfrm>
          <a:prstGeom prst="rect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9"/>
          <p:cNvSpPr txBox="1"/>
          <p:nvPr/>
        </p:nvSpPr>
        <p:spPr>
          <a:xfrm>
            <a:off x="749808" y="1773936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Content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9"/>
          <p:cNvSpPr txBox="1"/>
          <p:nvPr/>
        </p:nvSpPr>
        <p:spPr>
          <a:xfrm>
            <a:off x="6382512" y="1792224"/>
            <a:ext cx="1645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Optional additions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9"/>
          <p:cNvSpPr txBox="1"/>
          <p:nvPr/>
        </p:nvSpPr>
        <p:spPr>
          <a:xfrm>
            <a:off x="676656" y="2011680"/>
            <a:ext cx="4901184" cy="1993392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Main technologies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Why they were chosen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Alternative considered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Trade-off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9"/>
          <p:cNvSpPr txBox="1"/>
          <p:nvPr/>
        </p:nvSpPr>
        <p:spPr>
          <a:xfrm>
            <a:off x="6291072" y="2084831"/>
            <a:ext cx="2157984" cy="1810512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Component-to-tech table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Decision matrix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Constraints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9"/>
          <p:cNvSpPr txBox="1"/>
          <p:nvPr/>
        </p:nvSpPr>
        <p:spPr>
          <a:xfrm>
            <a:off x="365760" y="4736592"/>
            <a:ext cx="749807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8894A1"/>
                </a:solidFill>
                <a:latin typeface="Arial"/>
                <a:ea typeface="Arial"/>
                <a:cs typeface="Arial"/>
                <a:sym typeface="Arial"/>
              </a:rPr>
              <a:t>BDT project template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9"/>
          <p:cNvSpPr txBox="1"/>
          <p:nvPr/>
        </p:nvSpPr>
        <p:spPr>
          <a:xfrm>
            <a:off x="8366760" y="469087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7F3"/>
        </a:soli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0"/>
          <p:cNvSpPr/>
          <p:nvPr/>
        </p:nvSpPr>
        <p:spPr>
          <a:xfrm>
            <a:off x="7818120" y="-685800"/>
            <a:ext cx="2377440" cy="2377440"/>
          </a:xfrm>
          <a:prstGeom prst="ellipse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0"/>
          <p:cNvSpPr/>
          <p:nvPr/>
        </p:nvSpPr>
        <p:spPr>
          <a:xfrm>
            <a:off x="-822960" y="3977639"/>
            <a:ext cx="2011680" cy="2011680"/>
          </a:xfrm>
          <a:prstGeom prst="ellipse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0"/>
          <p:cNvSpPr/>
          <p:nvPr/>
        </p:nvSpPr>
        <p:spPr>
          <a:xfrm>
            <a:off x="384048" y="457200"/>
            <a:ext cx="64008" cy="384048"/>
          </a:xfrm>
          <a:prstGeom prst="rect">
            <a:avLst/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0"/>
          <p:cNvSpPr/>
          <p:nvPr/>
        </p:nvSpPr>
        <p:spPr>
          <a:xfrm>
            <a:off x="512064" y="292608"/>
            <a:ext cx="1417320" cy="274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REPRO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10"/>
          <p:cNvSpPr txBox="1"/>
          <p:nvPr/>
        </p:nvSpPr>
        <p:spPr>
          <a:xfrm>
            <a:off x="512064" y="658368"/>
            <a:ext cx="67665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6293D"/>
                </a:solidFill>
                <a:latin typeface="Play"/>
                <a:ea typeface="Play"/>
                <a:cs typeface="Play"/>
                <a:sym typeface="Play"/>
              </a:rPr>
              <a:t>Reproducibility And Repository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10"/>
          <p:cNvSpPr txBox="1"/>
          <p:nvPr/>
        </p:nvSpPr>
        <p:spPr>
          <a:xfrm>
            <a:off x="512064" y="1078992"/>
            <a:ext cx="74980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Where the code lives and how to run the project.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10"/>
          <p:cNvSpPr/>
          <p:nvPr/>
        </p:nvSpPr>
        <p:spPr>
          <a:xfrm>
            <a:off x="512064" y="1554480"/>
            <a:ext cx="5394960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0"/>
          <p:cNvSpPr/>
          <p:nvPr/>
        </p:nvSpPr>
        <p:spPr>
          <a:xfrm>
            <a:off x="6126480" y="1554480"/>
            <a:ext cx="2505456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0"/>
          <p:cNvSpPr/>
          <p:nvPr/>
        </p:nvSpPr>
        <p:spPr>
          <a:xfrm>
            <a:off x="6126480" y="1554480"/>
            <a:ext cx="2505456" cy="201168"/>
          </a:xfrm>
          <a:prstGeom prst="rect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0"/>
          <p:cNvSpPr txBox="1"/>
          <p:nvPr/>
        </p:nvSpPr>
        <p:spPr>
          <a:xfrm>
            <a:off x="749808" y="1773936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Content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10"/>
          <p:cNvSpPr txBox="1"/>
          <p:nvPr/>
        </p:nvSpPr>
        <p:spPr>
          <a:xfrm>
            <a:off x="6382512" y="1792224"/>
            <a:ext cx="1645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Optional additions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10"/>
          <p:cNvSpPr txBox="1"/>
          <p:nvPr/>
        </p:nvSpPr>
        <p:spPr>
          <a:xfrm>
            <a:off x="676656" y="2011680"/>
            <a:ext cx="4901184" cy="1993392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Repository and structure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Prerequisites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How to run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Inputs and outputs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10"/>
          <p:cNvSpPr txBox="1"/>
          <p:nvPr/>
        </p:nvSpPr>
        <p:spPr>
          <a:xfrm>
            <a:off x="6291072" y="2084831"/>
            <a:ext cx="2157984" cy="1810512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Docker / Compose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Demo command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Output paths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10"/>
          <p:cNvSpPr txBox="1"/>
          <p:nvPr/>
        </p:nvSpPr>
        <p:spPr>
          <a:xfrm>
            <a:off x="365760" y="4736592"/>
            <a:ext cx="749807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8894A1"/>
                </a:solidFill>
                <a:latin typeface="Arial"/>
                <a:ea typeface="Arial"/>
                <a:cs typeface="Arial"/>
                <a:sym typeface="Arial"/>
              </a:rPr>
              <a:t>BDT project template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10"/>
          <p:cNvSpPr txBox="1"/>
          <p:nvPr/>
        </p:nvSpPr>
        <p:spPr>
          <a:xfrm>
            <a:off x="8366760" y="469087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7F3"/>
        </a:solidFill>
      </p:bgPr>
    </p:bg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1"/>
          <p:cNvSpPr/>
          <p:nvPr/>
        </p:nvSpPr>
        <p:spPr>
          <a:xfrm>
            <a:off x="7818120" y="-685800"/>
            <a:ext cx="2377440" cy="2377440"/>
          </a:xfrm>
          <a:prstGeom prst="ellipse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1"/>
          <p:cNvSpPr/>
          <p:nvPr/>
        </p:nvSpPr>
        <p:spPr>
          <a:xfrm>
            <a:off x="-822960" y="3977639"/>
            <a:ext cx="2011680" cy="2011680"/>
          </a:xfrm>
          <a:prstGeom prst="ellipse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1"/>
          <p:cNvSpPr/>
          <p:nvPr/>
        </p:nvSpPr>
        <p:spPr>
          <a:xfrm>
            <a:off x="384048" y="457200"/>
            <a:ext cx="64008" cy="384048"/>
          </a:xfrm>
          <a:prstGeom prst="rect">
            <a:avLst/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1"/>
          <p:cNvSpPr/>
          <p:nvPr/>
        </p:nvSpPr>
        <p:spPr>
          <a:xfrm>
            <a:off x="512064" y="292608"/>
            <a:ext cx="1417320" cy="274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RESULTS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1"/>
          <p:cNvSpPr txBox="1"/>
          <p:nvPr/>
        </p:nvSpPr>
        <p:spPr>
          <a:xfrm>
            <a:off x="512064" y="658368"/>
            <a:ext cx="67665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6293D"/>
                </a:solidFill>
                <a:latin typeface="Play"/>
                <a:ea typeface="Play"/>
                <a:cs typeface="Play"/>
                <a:sym typeface="Play"/>
              </a:rPr>
              <a:t>Results: Functional Evidence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1"/>
          <p:cNvSpPr txBox="1"/>
          <p:nvPr/>
        </p:nvSpPr>
        <p:spPr>
          <a:xfrm>
            <a:off x="512064" y="1078992"/>
            <a:ext cx="74980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Main outputs and task-level results.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1"/>
          <p:cNvSpPr/>
          <p:nvPr/>
        </p:nvSpPr>
        <p:spPr>
          <a:xfrm>
            <a:off x="512064" y="1554480"/>
            <a:ext cx="2011680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1"/>
          <p:cNvSpPr/>
          <p:nvPr/>
        </p:nvSpPr>
        <p:spPr>
          <a:xfrm>
            <a:off x="2761488" y="1554480"/>
            <a:ext cx="5870448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1"/>
          <p:cNvSpPr/>
          <p:nvPr/>
        </p:nvSpPr>
        <p:spPr>
          <a:xfrm>
            <a:off x="2761488" y="1554480"/>
            <a:ext cx="5870448" cy="201168"/>
          </a:xfrm>
          <a:prstGeom prst="rect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1"/>
          <p:cNvSpPr txBox="1"/>
          <p:nvPr/>
        </p:nvSpPr>
        <p:spPr>
          <a:xfrm>
            <a:off x="731520" y="178308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Suggested content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1"/>
          <p:cNvSpPr txBox="1"/>
          <p:nvPr/>
        </p:nvSpPr>
        <p:spPr>
          <a:xfrm>
            <a:off x="2980944" y="1783080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947C5B"/>
                </a:solidFill>
                <a:latin typeface="Arial"/>
                <a:ea typeface="Arial"/>
                <a:cs typeface="Arial"/>
                <a:sym typeface="Arial"/>
              </a:rPr>
              <a:t>Results area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11"/>
          <p:cNvSpPr txBox="1"/>
          <p:nvPr/>
        </p:nvSpPr>
        <p:spPr>
          <a:xfrm>
            <a:off x="658368" y="2011680"/>
            <a:ext cx="1664208" cy="1993392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Metric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Baseline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Output example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Takeaway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11"/>
          <p:cNvSpPr/>
          <p:nvPr/>
        </p:nvSpPr>
        <p:spPr>
          <a:xfrm>
            <a:off x="2980944" y="1993392"/>
            <a:ext cx="5431536" cy="1938528"/>
          </a:xfrm>
          <a:prstGeom prst="roundRect">
            <a:avLst>
              <a:gd fmla="val 16667" name="adj"/>
            </a:avLst>
          </a:prstGeom>
          <a:solidFill>
            <a:srgbClr val="EEF1F4"/>
          </a:solidFill>
          <a:ln cap="flat" cmpd="sng" w="10150">
            <a:solidFill>
              <a:srgbClr val="D3D9D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8894A1"/>
                </a:solidFill>
                <a:latin typeface="Play"/>
                <a:ea typeface="Play"/>
                <a:cs typeface="Play"/>
                <a:sym typeface="Play"/>
              </a:rPr>
              <a:t>[Insert charts, tables, screenshots, or sample outputs here]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11"/>
          <p:cNvSpPr txBox="1"/>
          <p:nvPr/>
        </p:nvSpPr>
        <p:spPr>
          <a:xfrm>
            <a:off x="365760" y="4736592"/>
            <a:ext cx="749807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8894A1"/>
                </a:solidFill>
                <a:latin typeface="Arial"/>
                <a:ea typeface="Arial"/>
                <a:cs typeface="Arial"/>
                <a:sym typeface="Arial"/>
              </a:rPr>
              <a:t>BDT project template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11"/>
          <p:cNvSpPr txBox="1"/>
          <p:nvPr/>
        </p:nvSpPr>
        <p:spPr>
          <a:xfrm>
            <a:off x="8366760" y="469087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7F3"/>
        </a:solidFill>
      </p:bgPr>
    </p:bg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2"/>
          <p:cNvSpPr/>
          <p:nvPr/>
        </p:nvSpPr>
        <p:spPr>
          <a:xfrm>
            <a:off x="7818120" y="-685800"/>
            <a:ext cx="2377440" cy="2377440"/>
          </a:xfrm>
          <a:prstGeom prst="ellipse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2"/>
          <p:cNvSpPr/>
          <p:nvPr/>
        </p:nvSpPr>
        <p:spPr>
          <a:xfrm>
            <a:off x="-822960" y="3977639"/>
            <a:ext cx="2011680" cy="2011680"/>
          </a:xfrm>
          <a:prstGeom prst="ellipse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2"/>
          <p:cNvSpPr/>
          <p:nvPr/>
        </p:nvSpPr>
        <p:spPr>
          <a:xfrm>
            <a:off x="384048" y="457200"/>
            <a:ext cx="64008" cy="384048"/>
          </a:xfrm>
          <a:prstGeom prst="rect">
            <a:avLst/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2"/>
          <p:cNvSpPr/>
          <p:nvPr/>
        </p:nvSpPr>
        <p:spPr>
          <a:xfrm>
            <a:off x="512064" y="292608"/>
            <a:ext cx="1417320" cy="274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RESULTS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12"/>
          <p:cNvSpPr txBox="1"/>
          <p:nvPr/>
        </p:nvSpPr>
        <p:spPr>
          <a:xfrm>
            <a:off x="512064" y="658368"/>
            <a:ext cx="67665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6293D"/>
                </a:solidFill>
                <a:latin typeface="Play"/>
                <a:ea typeface="Play"/>
                <a:cs typeface="Play"/>
                <a:sym typeface="Play"/>
              </a:rPr>
              <a:t>Results: System And Performance Evidence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12"/>
          <p:cNvSpPr txBox="1"/>
          <p:nvPr/>
        </p:nvSpPr>
        <p:spPr>
          <a:xfrm>
            <a:off x="512064" y="1078992"/>
            <a:ext cx="74980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Runtime and system behavior.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12"/>
          <p:cNvSpPr/>
          <p:nvPr/>
        </p:nvSpPr>
        <p:spPr>
          <a:xfrm>
            <a:off x="512064" y="1554480"/>
            <a:ext cx="2011680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2"/>
          <p:cNvSpPr/>
          <p:nvPr/>
        </p:nvSpPr>
        <p:spPr>
          <a:xfrm>
            <a:off x="2761488" y="1554480"/>
            <a:ext cx="5870448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2"/>
          <p:cNvSpPr/>
          <p:nvPr/>
        </p:nvSpPr>
        <p:spPr>
          <a:xfrm>
            <a:off x="2761488" y="1554480"/>
            <a:ext cx="5870448" cy="201168"/>
          </a:xfrm>
          <a:prstGeom prst="rect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2"/>
          <p:cNvSpPr txBox="1"/>
          <p:nvPr/>
        </p:nvSpPr>
        <p:spPr>
          <a:xfrm>
            <a:off x="731520" y="178308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Suggested metrics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12"/>
          <p:cNvSpPr txBox="1"/>
          <p:nvPr/>
        </p:nvSpPr>
        <p:spPr>
          <a:xfrm>
            <a:off x="2980944" y="1783080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947C5B"/>
                </a:solidFill>
                <a:latin typeface="Arial"/>
                <a:ea typeface="Arial"/>
                <a:cs typeface="Arial"/>
                <a:sym typeface="Arial"/>
              </a:rPr>
              <a:t>Performance area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2"/>
          <p:cNvSpPr txBox="1"/>
          <p:nvPr/>
        </p:nvSpPr>
        <p:spPr>
          <a:xfrm>
            <a:off x="658368" y="2011680"/>
            <a:ext cx="1664208" cy="1993392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Runtime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Latency or throughput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Memory or cost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Scalability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Bottleneck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12"/>
          <p:cNvSpPr/>
          <p:nvPr/>
        </p:nvSpPr>
        <p:spPr>
          <a:xfrm>
            <a:off x="2980944" y="1993392"/>
            <a:ext cx="5431536" cy="1938528"/>
          </a:xfrm>
          <a:prstGeom prst="roundRect">
            <a:avLst>
              <a:gd fmla="val 16667" name="adj"/>
            </a:avLst>
          </a:prstGeom>
          <a:solidFill>
            <a:srgbClr val="EEF1F4"/>
          </a:solidFill>
          <a:ln cap="flat" cmpd="sng" w="10150">
            <a:solidFill>
              <a:srgbClr val="D3D9D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8894A1"/>
                </a:solidFill>
                <a:latin typeface="Play"/>
                <a:ea typeface="Play"/>
                <a:cs typeface="Play"/>
                <a:sym typeface="Play"/>
              </a:rPr>
              <a:t>[Insert benchmark table, scaling chart, or timings here]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12"/>
          <p:cNvSpPr txBox="1"/>
          <p:nvPr/>
        </p:nvSpPr>
        <p:spPr>
          <a:xfrm>
            <a:off x="365760" y="4736592"/>
            <a:ext cx="749807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8894A1"/>
                </a:solidFill>
                <a:latin typeface="Arial"/>
                <a:ea typeface="Arial"/>
                <a:cs typeface="Arial"/>
                <a:sym typeface="Arial"/>
              </a:rPr>
              <a:t>BDT project template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2"/>
          <p:cNvSpPr txBox="1"/>
          <p:nvPr/>
        </p:nvSpPr>
        <p:spPr>
          <a:xfrm>
            <a:off x="8366760" y="469087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7F3"/>
        </a:solid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3"/>
          <p:cNvSpPr/>
          <p:nvPr/>
        </p:nvSpPr>
        <p:spPr>
          <a:xfrm>
            <a:off x="7818120" y="-685800"/>
            <a:ext cx="2377440" cy="2377440"/>
          </a:xfrm>
          <a:prstGeom prst="ellipse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3"/>
          <p:cNvSpPr/>
          <p:nvPr/>
        </p:nvSpPr>
        <p:spPr>
          <a:xfrm>
            <a:off x="-822960" y="3977639"/>
            <a:ext cx="2011680" cy="2011680"/>
          </a:xfrm>
          <a:prstGeom prst="ellipse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3"/>
          <p:cNvSpPr/>
          <p:nvPr/>
        </p:nvSpPr>
        <p:spPr>
          <a:xfrm>
            <a:off x="384048" y="457200"/>
            <a:ext cx="64008" cy="384048"/>
          </a:xfrm>
          <a:prstGeom prst="rect">
            <a:avLst/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3"/>
          <p:cNvSpPr/>
          <p:nvPr/>
        </p:nvSpPr>
        <p:spPr>
          <a:xfrm>
            <a:off x="512064" y="292608"/>
            <a:ext cx="1417320" cy="274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REFLECTION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3"/>
          <p:cNvSpPr txBox="1"/>
          <p:nvPr/>
        </p:nvSpPr>
        <p:spPr>
          <a:xfrm>
            <a:off x="512064" y="658368"/>
            <a:ext cx="676656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6293D"/>
                </a:solidFill>
                <a:latin typeface="Play"/>
                <a:ea typeface="Play"/>
                <a:cs typeface="Play"/>
                <a:sym typeface="Play"/>
              </a:rPr>
              <a:t>Limitations, Lessons, And Next Steps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13"/>
          <p:cNvSpPr txBox="1"/>
          <p:nvPr/>
        </p:nvSpPr>
        <p:spPr>
          <a:xfrm>
            <a:off x="512064" y="1078992"/>
            <a:ext cx="74980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Wrap up the project with an honest reflection.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13"/>
          <p:cNvSpPr/>
          <p:nvPr/>
        </p:nvSpPr>
        <p:spPr>
          <a:xfrm>
            <a:off x="512064" y="1554480"/>
            <a:ext cx="5394960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3"/>
          <p:cNvSpPr/>
          <p:nvPr/>
        </p:nvSpPr>
        <p:spPr>
          <a:xfrm>
            <a:off x="6126480" y="1554480"/>
            <a:ext cx="2505456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3"/>
          <p:cNvSpPr/>
          <p:nvPr/>
        </p:nvSpPr>
        <p:spPr>
          <a:xfrm>
            <a:off x="6126480" y="1554480"/>
            <a:ext cx="2505456" cy="201168"/>
          </a:xfrm>
          <a:prstGeom prst="rect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3"/>
          <p:cNvSpPr txBox="1"/>
          <p:nvPr/>
        </p:nvSpPr>
        <p:spPr>
          <a:xfrm>
            <a:off x="749808" y="1773936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Content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3"/>
          <p:cNvSpPr txBox="1"/>
          <p:nvPr/>
        </p:nvSpPr>
        <p:spPr>
          <a:xfrm>
            <a:off x="6382512" y="1792224"/>
            <a:ext cx="1645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Optional additions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3"/>
          <p:cNvSpPr txBox="1"/>
          <p:nvPr/>
        </p:nvSpPr>
        <p:spPr>
          <a:xfrm>
            <a:off x="676656" y="2011680"/>
            <a:ext cx="4901184" cy="1993392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Current limitations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What could be improved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Main lesson learned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Next step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3"/>
          <p:cNvSpPr txBox="1"/>
          <p:nvPr/>
        </p:nvSpPr>
        <p:spPr>
          <a:xfrm>
            <a:off x="6291072" y="2084831"/>
            <a:ext cx="2157984" cy="1810512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Scaling concern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Open question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Stretch goal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3"/>
          <p:cNvSpPr txBox="1"/>
          <p:nvPr/>
        </p:nvSpPr>
        <p:spPr>
          <a:xfrm>
            <a:off x="365760" y="4736592"/>
            <a:ext cx="749807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8894A1"/>
                </a:solidFill>
                <a:latin typeface="Arial"/>
                <a:ea typeface="Arial"/>
                <a:cs typeface="Arial"/>
                <a:sym typeface="Arial"/>
              </a:rPr>
              <a:t>BDT project template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13"/>
          <p:cNvSpPr txBox="1"/>
          <p:nvPr/>
        </p:nvSpPr>
        <p:spPr>
          <a:xfrm>
            <a:off x="8366760" y="469087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9F7F3"/>
        </a:solidFill>
      </p:bgPr>
    </p:bg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14"/>
          <p:cNvSpPr/>
          <p:nvPr/>
        </p:nvSpPr>
        <p:spPr>
          <a:xfrm>
            <a:off x="7818120" y="-685800"/>
            <a:ext cx="2377440" cy="2377440"/>
          </a:xfrm>
          <a:prstGeom prst="ellipse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4"/>
          <p:cNvSpPr/>
          <p:nvPr/>
        </p:nvSpPr>
        <p:spPr>
          <a:xfrm>
            <a:off x="-822960" y="3977639"/>
            <a:ext cx="2011680" cy="2011680"/>
          </a:xfrm>
          <a:prstGeom prst="ellipse">
            <a:avLst/>
          </a:prstGeom>
          <a:solidFill>
            <a:srgbClr val="F1EAD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4"/>
          <p:cNvSpPr/>
          <p:nvPr/>
        </p:nvSpPr>
        <p:spPr>
          <a:xfrm>
            <a:off x="384048" y="457200"/>
            <a:ext cx="64008" cy="384048"/>
          </a:xfrm>
          <a:prstGeom prst="rect">
            <a:avLst/>
          </a:prstGeom>
          <a:solidFill>
            <a:srgbClr val="187A6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4"/>
          <p:cNvSpPr/>
          <p:nvPr/>
        </p:nvSpPr>
        <p:spPr>
          <a:xfrm>
            <a:off x="512064" y="292608"/>
            <a:ext cx="1417320" cy="2743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INTEGRITY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4"/>
          <p:cNvSpPr txBox="1"/>
          <p:nvPr/>
        </p:nvSpPr>
        <p:spPr>
          <a:xfrm>
            <a:off x="512075" y="624575"/>
            <a:ext cx="8545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6293D"/>
                </a:solidFill>
                <a:latin typeface="Play"/>
                <a:ea typeface="Play"/>
                <a:cs typeface="Play"/>
                <a:sym typeface="Play"/>
              </a:rPr>
              <a:t>References, Acknowledgments, And GenAI Disclosure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14"/>
          <p:cNvSpPr txBox="1"/>
          <p:nvPr/>
        </p:nvSpPr>
        <p:spPr>
          <a:xfrm>
            <a:off x="512064" y="1078992"/>
            <a:ext cx="749807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Sources, external help, and acknowledgments.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14"/>
          <p:cNvSpPr/>
          <p:nvPr/>
        </p:nvSpPr>
        <p:spPr>
          <a:xfrm>
            <a:off x="512064" y="1554480"/>
            <a:ext cx="5394960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4"/>
          <p:cNvSpPr/>
          <p:nvPr/>
        </p:nvSpPr>
        <p:spPr>
          <a:xfrm>
            <a:off x="6126480" y="1554480"/>
            <a:ext cx="2505456" cy="2743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150">
            <a:solidFill>
              <a:srgbClr val="DEE2E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4"/>
          <p:cNvSpPr/>
          <p:nvPr/>
        </p:nvSpPr>
        <p:spPr>
          <a:xfrm>
            <a:off x="6126480" y="1554480"/>
            <a:ext cx="2505456" cy="201168"/>
          </a:xfrm>
          <a:prstGeom prst="rect">
            <a:avLst/>
          </a:prstGeom>
          <a:solidFill>
            <a:srgbClr val="E4F2E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4"/>
          <p:cNvSpPr txBox="1"/>
          <p:nvPr/>
        </p:nvSpPr>
        <p:spPr>
          <a:xfrm>
            <a:off x="749808" y="1773936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Content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14"/>
          <p:cNvSpPr txBox="1"/>
          <p:nvPr/>
        </p:nvSpPr>
        <p:spPr>
          <a:xfrm>
            <a:off x="6382512" y="1792224"/>
            <a:ext cx="1645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87A6F"/>
                </a:solidFill>
                <a:latin typeface="Arial"/>
                <a:ea typeface="Arial"/>
                <a:cs typeface="Arial"/>
                <a:sym typeface="Arial"/>
              </a:rPr>
              <a:t>Optional additions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14"/>
          <p:cNvSpPr txBox="1"/>
          <p:nvPr/>
        </p:nvSpPr>
        <p:spPr>
          <a:xfrm>
            <a:off x="676656" y="2011680"/>
            <a:ext cx="4901184" cy="1993392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Datasets and references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Libraries, APIs, and tools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Acknowledgments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GenAI usage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14"/>
          <p:cNvSpPr txBox="1"/>
          <p:nvPr/>
        </p:nvSpPr>
        <p:spPr>
          <a:xfrm>
            <a:off x="6291072" y="2084831"/>
            <a:ext cx="2157984" cy="1810512"/>
          </a:xfrm>
          <a:prstGeom prst="rect">
            <a:avLst/>
          </a:prstGeom>
          <a:noFill/>
          <a:ln>
            <a:noFill/>
          </a:ln>
        </p:spPr>
        <p:txBody>
          <a:bodyPr anchorCtr="0" anchor="t" bIns="73150" lIns="146300" spcFirstLastPara="1" rIns="109725" wrap="square" tIns="109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Paper list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Dataset links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6293D"/>
                </a:solidFill>
                <a:latin typeface="Arial"/>
                <a:ea typeface="Arial"/>
                <a:cs typeface="Arial"/>
                <a:sym typeface="Arial"/>
              </a:rPr>
              <a:t>Contribution credits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14"/>
          <p:cNvSpPr txBox="1"/>
          <p:nvPr/>
        </p:nvSpPr>
        <p:spPr>
          <a:xfrm>
            <a:off x="365760" y="4736592"/>
            <a:ext cx="749807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8894A1"/>
                </a:solidFill>
                <a:latin typeface="Arial"/>
                <a:ea typeface="Arial"/>
                <a:cs typeface="Arial"/>
                <a:sym typeface="Arial"/>
              </a:rPr>
              <a:t>BDT project template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14"/>
          <p:cNvSpPr txBox="1"/>
          <p:nvPr/>
        </p:nvSpPr>
        <p:spPr>
          <a:xfrm>
            <a:off x="8366760" y="4690872"/>
            <a:ext cx="411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576575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