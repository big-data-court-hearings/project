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Play"/>
      <p:regular r:id="rId21"/>
      <p:bold r:id="rId22"/>
    </p:embeddedFont>
    <p:embeddedFont>
      <p:font typeface="Roboto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i1rJHzskVqYOjY1Xh8VTSBDZ2o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D4FFB22-3C65-4DAF-B08D-F1B4F6C1D308}">
  <a:tblStyle styleId="{3D4FFB22-3C65-4DAF-B08D-F1B4F6C1D3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lay-bold.fntdata"/><Relationship Id="rId21" Type="http://schemas.openxmlformats.org/officeDocument/2006/relationships/font" Target="fonts/Play-regular.fntdata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henri.vasserot@studenti.unitn.it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courtlistener.com/api/" TargetMode="External"/><Relationship Id="rId4" Type="http://schemas.openxmlformats.org/officeDocument/2006/relationships/hyperlink" Target="https://drive.google.com/drive/folders/1-pogtrR4fofkjftPa86cw_hEXPVQ0G4G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7F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7818120" y="-685800"/>
            <a:ext cx="2377440" cy="2377440"/>
          </a:xfrm>
          <a:prstGeom prst="ellipse">
            <a:avLst/>
          </a:prstGeom>
          <a:solidFill>
            <a:srgbClr val="E4F2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-822960" y="3977639"/>
            <a:ext cx="2011680" cy="2011680"/>
          </a:xfrm>
          <a:prstGeom prst="ellipse">
            <a:avLst/>
          </a:prstGeom>
          <a:solidFill>
            <a:srgbClr val="F1EAD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384048" y="457200"/>
            <a:ext cx="64008" cy="384048"/>
          </a:xfrm>
          <a:prstGeom prst="rect">
            <a:avLst/>
          </a:prstGeom>
          <a:solidFill>
            <a:srgbClr val="187A6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6693408" y="749808"/>
            <a:ext cx="1481328" cy="1152144"/>
          </a:xfrm>
          <a:prstGeom prst="roundRect">
            <a:avLst>
              <a:gd fmla="val 16667" name="adj"/>
            </a:avLst>
          </a:prstGeom>
          <a:solidFill>
            <a:srgbClr val="187A6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30352" y="896112"/>
            <a:ext cx="5394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6293D"/>
                </a:solidFill>
                <a:latin typeface="Play"/>
                <a:ea typeface="Play"/>
                <a:cs typeface="Play"/>
                <a:sym typeface="Play"/>
              </a:rPr>
              <a:t>Court Case Backlog and Justice Delay Observatory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280050" y="3918975"/>
            <a:ext cx="74982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>
                <a:solidFill>
                  <a:srgbClr val="576575"/>
                </a:solidFill>
              </a:rPr>
              <a:t>Asia Panizza (255334) - asia.panizza@studenti.unitn.it, </a:t>
            </a:r>
            <a:endParaRPr sz="1100">
              <a:solidFill>
                <a:srgbClr val="57657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>
                <a:solidFill>
                  <a:srgbClr val="576575"/>
                </a:solidFill>
              </a:rPr>
              <a:t>Yasmin El Morady(267977) - yasmin.elmorady@studenti.unitn.it, </a:t>
            </a:r>
            <a:endParaRPr sz="1100">
              <a:solidFill>
                <a:srgbClr val="57657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>
                <a:solidFill>
                  <a:srgbClr val="576575"/>
                </a:solidFill>
              </a:rPr>
              <a:t>Henri Vasserot(264384) - </a:t>
            </a:r>
            <a:r>
              <a:rPr lang="en-US" sz="1100" u="sng">
                <a:solidFill>
                  <a:schemeClr val="hlink"/>
                </a:solidFill>
                <a:hlinkClick r:id="rId3"/>
              </a:rPr>
              <a:t>henri.vasserot@studenti.unitn.i</a:t>
            </a:r>
            <a:r>
              <a:rPr lang="en-US" sz="1100">
                <a:solidFill>
                  <a:srgbClr val="576575"/>
                </a:solidFill>
              </a:rPr>
              <a:t>t</a:t>
            </a:r>
            <a:endParaRPr sz="1100">
              <a:solidFill>
                <a:srgbClr val="57657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100">
              <a:solidFill>
                <a:srgbClr val="5765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76575"/>
                </a:solidFill>
              </a:rPr>
              <a:t>MSc in Data Science — University of Trento  ;  Big Data Technologies — 2026  ;  </a:t>
            </a:r>
            <a:r>
              <a:rPr b="0" i="0" lang="en-US" sz="1100" u="none" cap="none" strike="noStrike">
                <a:solidFill>
                  <a:srgbClr val="576575"/>
                </a:solidFill>
                <a:latin typeface="Arial"/>
                <a:ea typeface="Arial"/>
                <a:cs typeface="Arial"/>
                <a:sym typeface="Arial"/>
              </a:rPr>
              <a:t>02/0</a:t>
            </a:r>
            <a:r>
              <a:rPr lang="en-US" sz="1100">
                <a:solidFill>
                  <a:srgbClr val="576575"/>
                </a:solidFill>
              </a:rPr>
              <a:t>7/2026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366760" y="469087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657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822900" y="2813462"/>
            <a:ext cx="74982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0" marR="3810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6293D"/>
                </a:solidFill>
                <a:latin typeface="Play"/>
                <a:ea typeface="Play"/>
                <a:cs typeface="Play"/>
                <a:sym typeface="Play"/>
              </a:rPr>
              <a:t>Event-driven judicial data engineering pipeline combining incremental ingestion, layered storage architecture, KPI computation, and interactive analytics for court backlog monitoring.</a:t>
            </a:r>
            <a:endParaRPr sz="1200">
              <a:solidFill>
                <a:srgbClr val="16293D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1200">
              <a:solidFill>
                <a:srgbClr val="16293D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530350" y="1858675"/>
            <a:ext cx="669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scalable judicial analytics pipeline for monitoring court delays, backlog dynamics, and resolution efficiency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7F3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7818120" y="-685800"/>
            <a:ext cx="2377440" cy="2377440"/>
          </a:xfrm>
          <a:prstGeom prst="ellipse">
            <a:avLst/>
          </a:prstGeom>
          <a:solidFill>
            <a:srgbClr val="E4F2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-822960" y="3977639"/>
            <a:ext cx="2011680" cy="2011680"/>
          </a:xfrm>
          <a:prstGeom prst="ellipse">
            <a:avLst/>
          </a:prstGeom>
          <a:solidFill>
            <a:srgbClr val="F1EAD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384048" y="457200"/>
            <a:ext cx="64008" cy="384048"/>
          </a:xfrm>
          <a:prstGeom prst="rect">
            <a:avLst/>
          </a:prstGeom>
          <a:solidFill>
            <a:srgbClr val="187A6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512064" y="292608"/>
            <a:ext cx="1417320" cy="274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87A6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512064" y="658368"/>
            <a:ext cx="6766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6293D"/>
                </a:solidFill>
                <a:latin typeface="Play"/>
                <a:ea typeface="Play"/>
                <a:cs typeface="Play"/>
                <a:sym typeface="Play"/>
              </a:rPr>
              <a:t>Team, Roles, And Collaboration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512064" y="1078992"/>
            <a:ext cx="74980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76575"/>
                </a:solidFill>
                <a:latin typeface="Arial"/>
                <a:ea typeface="Arial"/>
                <a:cs typeface="Arial"/>
                <a:sym typeface="Arial"/>
              </a:rPr>
              <a:t>Who worked on what, how the team collaborated, and each member's background.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512075" y="1554474"/>
            <a:ext cx="5394900" cy="3482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EE2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6126475" y="935525"/>
            <a:ext cx="2505600" cy="4195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EE2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6126475" y="935522"/>
            <a:ext cx="2505600" cy="342900"/>
          </a:xfrm>
          <a:prstGeom prst="rect">
            <a:avLst/>
          </a:prstGeom>
          <a:solidFill>
            <a:srgbClr val="E4F2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Collaboration and Workflow</a:t>
            </a:r>
            <a:endParaRPr b="1" sz="13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749808" y="1773936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76575"/>
                </a:solidFill>
                <a:latin typeface="Arial"/>
                <a:ea typeface="Arial"/>
                <a:cs typeface="Arial"/>
                <a:sym typeface="Arial"/>
              </a:rPr>
              <a:t>Content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8366760" y="469087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657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749800" y="2002525"/>
            <a:ext cx="338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Asia Panizza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MSc in Economics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Yasmin El Morady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BSc in Psychology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Henri Vasserot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BSc in Mathematics &amp; Philosophy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9" name="Google Shape;109;p2"/>
          <p:cNvGraphicFramePr/>
          <p:nvPr/>
        </p:nvGraphicFramePr>
        <p:xfrm>
          <a:off x="613963" y="275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{3D4FFB22-3C65-4DAF-B08D-F1B4F6C1D308}</a:tableStyleId>
              </a:tblPr>
              <a:tblGrid>
                <a:gridCol w="1730375"/>
                <a:gridCol w="1730375"/>
                <a:gridCol w="1730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Asia Panizza 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Yasmin El Morady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Henri Vasserot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Exploratory data analysis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KPI validation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Documentation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Bronze/Silver/Gold architecture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Dashboard design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Visual analytics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Streamlit integration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>System architecture</a:t>
                      </a:r>
                      <a:endParaRPr sz="1000"/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>Incremental ingestion pipeline</a:t>
                      </a:r>
                      <a:endParaRPr sz="1000"/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>Metrics computation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0" name="Google Shape;110;p2"/>
          <p:cNvSpPr txBox="1"/>
          <p:nvPr/>
        </p:nvSpPr>
        <p:spPr>
          <a:xfrm>
            <a:off x="5968500" y="1691650"/>
            <a:ext cx="27423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Distributed workload across analytics, engineering, and visualization task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GitHub-based collaborative development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 Google documents and repository coordination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Online and presential meetings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7F3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/>
          <p:nvPr/>
        </p:nvSpPr>
        <p:spPr>
          <a:xfrm>
            <a:off x="7818120" y="-685800"/>
            <a:ext cx="2377440" cy="2377440"/>
          </a:xfrm>
          <a:prstGeom prst="ellipse">
            <a:avLst/>
          </a:prstGeom>
          <a:solidFill>
            <a:srgbClr val="E4F2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-822960" y="3977639"/>
            <a:ext cx="2011680" cy="2011680"/>
          </a:xfrm>
          <a:prstGeom prst="ellipse">
            <a:avLst/>
          </a:prstGeom>
          <a:solidFill>
            <a:srgbClr val="F1EAD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384048" y="457200"/>
            <a:ext cx="64008" cy="384048"/>
          </a:xfrm>
          <a:prstGeom prst="rect">
            <a:avLst/>
          </a:prstGeom>
          <a:solidFill>
            <a:srgbClr val="187A6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512064" y="292608"/>
            <a:ext cx="1417320" cy="274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87A6F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512064" y="658368"/>
            <a:ext cx="6766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6293D"/>
                </a:solidFill>
                <a:latin typeface="Play"/>
                <a:ea typeface="Play"/>
                <a:cs typeface="Play"/>
                <a:sym typeface="Play"/>
              </a:rPr>
              <a:t>Project At A Glance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512064" y="1078992"/>
            <a:ext cx="74980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76575"/>
                </a:solidFill>
                <a:latin typeface="Arial"/>
                <a:ea typeface="Arial"/>
                <a:cs typeface="Arial"/>
                <a:sym typeface="Arial"/>
              </a:rPr>
              <a:t>A compact summary of the project.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512080" y="1554475"/>
            <a:ext cx="785460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EE2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6300247" y="1975106"/>
            <a:ext cx="215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146300" spcFirstLastPara="1" rIns="109725" wrap="square" tIns="109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8366760" y="469087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657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1091600" y="2155400"/>
            <a:ext cx="3318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419000" y="1716334"/>
            <a:ext cx="7684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Judicial backlog and court resolution delays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 user/stakeholder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Policy makers, court administrators, legal researchers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data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Event-based judicial records from the CourtListener API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result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Interactive judicial analytics dashboard and scalable monitoring pipeline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Pipeline summary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 CourtListener API → Bronze → Silver → Gold → Streamlit Dashboard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metric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Case resolution time between filing and resolution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7F3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>
            <a:off x="7818120" y="-685800"/>
            <a:ext cx="2377440" cy="2377440"/>
          </a:xfrm>
          <a:prstGeom prst="ellipse">
            <a:avLst/>
          </a:prstGeom>
          <a:solidFill>
            <a:srgbClr val="E4F2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-822960" y="3977639"/>
            <a:ext cx="2011680" cy="2011680"/>
          </a:xfrm>
          <a:prstGeom prst="ellipse">
            <a:avLst/>
          </a:prstGeom>
          <a:solidFill>
            <a:srgbClr val="F1EAD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384048" y="457200"/>
            <a:ext cx="64008" cy="384048"/>
          </a:xfrm>
          <a:prstGeom prst="rect">
            <a:avLst/>
          </a:prstGeom>
          <a:solidFill>
            <a:srgbClr val="187A6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512064" y="292608"/>
            <a:ext cx="1417320" cy="274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87A6F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512064" y="658368"/>
            <a:ext cx="6766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6293D"/>
                </a:solidFill>
                <a:latin typeface="Play"/>
                <a:ea typeface="Play"/>
                <a:cs typeface="Play"/>
                <a:sym typeface="Play"/>
              </a:rPr>
              <a:t>Problem And Motivation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512064" y="1078992"/>
            <a:ext cx="74980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76575"/>
                </a:solidFill>
                <a:latin typeface="Arial"/>
                <a:ea typeface="Arial"/>
                <a:cs typeface="Arial"/>
                <a:sym typeface="Arial"/>
              </a:rPr>
              <a:t>Why this project matters and what it is trying to solve.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12075" y="1554474"/>
            <a:ext cx="5394900" cy="348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EE2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6126475" y="1554474"/>
            <a:ext cx="2505600" cy="348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EE2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6126480" y="1554480"/>
            <a:ext cx="2505456" cy="201168"/>
          </a:xfrm>
          <a:prstGeom prst="rect">
            <a:avLst/>
          </a:prstGeom>
          <a:solidFill>
            <a:srgbClr val="E4F2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580475" y="1785853"/>
            <a:ext cx="5258100" cy="30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146300" spcFirstLastPara="1" rIns="109725" wrap="square" tIns="109725">
            <a:sp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93D"/>
              </a:buClr>
              <a:buSzPts val="1100"/>
              <a:buChar char="●"/>
            </a:pPr>
            <a:r>
              <a:rPr b="1" i="0" lang="en-US" sz="1100" u="none" cap="none" strike="noStrike">
                <a:solidFill>
                  <a:srgbClr val="16293D"/>
                </a:solidFill>
              </a:rPr>
              <a:t>Problem statement</a:t>
            </a:r>
            <a:r>
              <a:rPr b="0" i="0" lang="en-US" sz="1100" u="none" cap="none" strike="noStrike">
                <a:solidFill>
                  <a:srgbClr val="16293D"/>
                </a:solidFill>
                <a:latin typeface="Arial"/>
                <a:ea typeface="Arial"/>
                <a:cs typeface="Arial"/>
                <a:sym typeface="Arial"/>
              </a:rPr>
              <a:t> : Judicial systems face growing backlogs and delays due to imbalance between incoming and resolved cases.</a:t>
            </a:r>
            <a:endParaRPr b="0" i="0" sz="1100" u="none" cap="none" strike="noStrike">
              <a:solidFill>
                <a:srgbClr val="16293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6293D"/>
              </a:solidFill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16293D"/>
              </a:buClr>
              <a:buSzPts val="1100"/>
              <a:buChar char="●"/>
            </a:pPr>
            <a:r>
              <a:rPr b="1" i="0" lang="en-US" sz="1100" u="none" cap="none" strike="noStrike">
                <a:solidFill>
                  <a:srgbClr val="16293D"/>
                </a:solidFill>
              </a:rPr>
              <a:t>Why it matters </a:t>
            </a:r>
            <a:r>
              <a:rPr b="0" i="0" lang="en-US" sz="1100" u="none" cap="none" strike="noStrike">
                <a:solidFill>
                  <a:srgbClr val="16293D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00">
                <a:solidFill>
                  <a:srgbClr val="16293D"/>
                </a:solidFill>
              </a:rPr>
              <a:t>Long judicial delays </a:t>
            </a:r>
            <a:r>
              <a:rPr b="0" i="0" lang="en-US" sz="1100" u="none" cap="none" strike="noStrike">
                <a:solidFill>
                  <a:srgbClr val="16293D"/>
                </a:solidFill>
                <a:latin typeface="Arial"/>
                <a:ea typeface="Arial"/>
                <a:cs typeface="Arial"/>
                <a:sym typeface="Arial"/>
              </a:rPr>
              <a:t>reduce fairness, transparency, and efficiency of justice systems.</a:t>
            </a:r>
            <a:endParaRPr b="0" i="0" sz="1100" u="none" cap="none" strike="noStrike">
              <a:solidFill>
                <a:srgbClr val="16293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6293D"/>
              </a:solidFill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16293D"/>
              </a:buClr>
              <a:buSzPts val="1100"/>
              <a:buChar char="●"/>
            </a:pPr>
            <a:r>
              <a:rPr b="1" i="0" lang="en-US" sz="1100" u="none" cap="none" strike="noStrike">
                <a:solidFill>
                  <a:srgbClr val="16293D"/>
                </a:solidFill>
              </a:rPr>
              <a:t>Goal or success metric</a:t>
            </a:r>
            <a:r>
              <a:rPr b="0" i="0" lang="en-US" sz="1100" u="none" cap="none" strike="noStrike">
                <a:solidFill>
                  <a:srgbClr val="16293D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lang="en-US" sz="1100">
                <a:solidFill>
                  <a:srgbClr val="16293D"/>
                </a:solidFill>
              </a:rPr>
              <a:t>Build a scalable data-driven system for monitoring court delays, backlog dynamics, and judicial performance indicators. </a:t>
            </a:r>
            <a:endParaRPr sz="1100">
              <a:solidFill>
                <a:srgbClr val="16293D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6293D"/>
              </a:solidFill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16293D"/>
              </a:buClr>
              <a:buSzPts val="1100"/>
              <a:buChar char="●"/>
            </a:pPr>
            <a:r>
              <a:rPr b="1" i="0" lang="en-US" sz="1100" u="none" cap="none" strike="noStrike">
                <a:solidFill>
                  <a:srgbClr val="16293D"/>
                </a:solidFill>
              </a:rPr>
              <a:t>Scope</a:t>
            </a:r>
            <a:r>
              <a:rPr b="0" i="0" lang="en-US" sz="1100" u="none" cap="none" strike="noStrike">
                <a:solidFill>
                  <a:srgbClr val="16293D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lang="en-US" sz="1100">
                <a:solidFill>
                  <a:srgbClr val="16293D"/>
                </a:solidFill>
              </a:rPr>
              <a:t>Multi-court and multi-year analysis of event-based judicial records.</a:t>
            </a:r>
            <a:endParaRPr sz="1100">
              <a:solidFill>
                <a:srgbClr val="16293D"/>
              </a:solidFill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6300322" y="1882906"/>
            <a:ext cx="21579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146300" spcFirstLastPara="1" rIns="109725" wrap="square" tIns="109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93D"/>
                </a:solidFill>
              </a:rPr>
              <a:t>Example use case</a:t>
            </a:r>
            <a:r>
              <a:rPr b="0" i="0" lang="en-US" sz="1300" u="none" cap="none" strike="noStrike">
                <a:solidFill>
                  <a:srgbClr val="16293D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1100" u="none" cap="none" strike="noStrike">
                <a:solidFill>
                  <a:srgbClr val="16293D"/>
                </a:solidFill>
                <a:latin typeface="Arial"/>
                <a:ea typeface="Arial"/>
                <a:cs typeface="Arial"/>
                <a:sym typeface="Arial"/>
              </a:rPr>
              <a:t>A policy maker identifies courts with excessive delays and reallocates resources.</a:t>
            </a:r>
            <a:endParaRPr sz="1100">
              <a:solidFill>
                <a:srgbClr val="16293D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93D"/>
                </a:solidFill>
              </a:rPr>
              <a:t>Target audience </a:t>
            </a:r>
            <a:r>
              <a:rPr b="0" i="0" lang="en-US" sz="1300" u="none" cap="none" strike="noStrike">
                <a:solidFill>
                  <a:srgbClr val="16293D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US" sz="1100" u="none" cap="none" strike="noStrike">
                <a:solidFill>
                  <a:srgbClr val="16293D"/>
                </a:solidFill>
                <a:latin typeface="Arial"/>
                <a:ea typeface="Arial"/>
                <a:cs typeface="Arial"/>
                <a:sym typeface="Arial"/>
              </a:rPr>
              <a:t>Policy makers, court administrators, researchers.</a:t>
            </a:r>
            <a:endParaRPr sz="1300">
              <a:solidFill>
                <a:srgbClr val="16293D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93D"/>
                </a:solidFill>
              </a:rPr>
              <a:t>Main assumption	</a:t>
            </a:r>
            <a:r>
              <a:rPr b="0" i="0" lang="en-US" sz="1300" u="none" cap="none" strike="noStrike">
                <a:solidFill>
                  <a:srgbClr val="16293D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100">
                <a:solidFill>
                  <a:srgbClr val="16293D"/>
                </a:solidFill>
              </a:rPr>
              <a:t>Judicial processes can be modeled as event-based data with measurable delays.</a:t>
            </a:r>
            <a:endParaRPr sz="1100">
              <a:solidFill>
                <a:srgbClr val="16293D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rgbClr val="16293D"/>
              </a:solidFill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8366760" y="469087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657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7F3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/>
          <p:nvPr/>
        </p:nvSpPr>
        <p:spPr>
          <a:xfrm>
            <a:off x="7818120" y="-685800"/>
            <a:ext cx="2377440" cy="2377440"/>
          </a:xfrm>
          <a:prstGeom prst="ellipse">
            <a:avLst/>
          </a:prstGeom>
          <a:solidFill>
            <a:srgbClr val="E4F2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-822960" y="3977639"/>
            <a:ext cx="2011680" cy="2011680"/>
          </a:xfrm>
          <a:prstGeom prst="ellipse">
            <a:avLst/>
          </a:prstGeom>
          <a:solidFill>
            <a:srgbClr val="F1EAD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384048" y="457200"/>
            <a:ext cx="64008" cy="384048"/>
          </a:xfrm>
          <a:prstGeom prst="rect">
            <a:avLst/>
          </a:prstGeom>
          <a:solidFill>
            <a:srgbClr val="187A6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512064" y="292608"/>
            <a:ext cx="1417320" cy="274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87A6F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512064" y="658368"/>
            <a:ext cx="6766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6293D"/>
                </a:solidFill>
                <a:latin typeface="Play"/>
                <a:ea typeface="Play"/>
                <a:cs typeface="Play"/>
                <a:sym typeface="Play"/>
              </a:rPr>
              <a:t>Why This Is A Big Data Problem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512064" y="1078992"/>
            <a:ext cx="74980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76575"/>
                </a:solidFill>
                <a:latin typeface="Arial"/>
                <a:ea typeface="Arial"/>
                <a:cs typeface="Arial"/>
                <a:sym typeface="Arial"/>
              </a:rPr>
              <a:t>Explain the scale or complexity that motivates the architecture.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12064" y="1554480"/>
            <a:ext cx="539496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EE2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6126475" y="1554474"/>
            <a:ext cx="2505600" cy="3481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EE2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6126480" y="1554480"/>
            <a:ext cx="2505456" cy="201168"/>
          </a:xfrm>
          <a:prstGeom prst="rect">
            <a:avLst/>
          </a:prstGeom>
          <a:solidFill>
            <a:srgbClr val="E4F2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759006" y="1650942"/>
            <a:ext cx="4901100" cy="23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146300" spcFirstLastPara="1" rIns="109725" wrap="square" tIns="109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6293D"/>
                </a:solidFill>
                <a:latin typeface="Arial"/>
                <a:ea typeface="Arial"/>
                <a:cs typeface="Arial"/>
                <a:sym typeface="Arial"/>
              </a:rPr>
              <a:t>Volume :</a:t>
            </a:r>
            <a:r>
              <a:rPr lang="en-US" sz="1600">
                <a:solidFill>
                  <a:srgbClr val="16293D"/>
                </a:solidFill>
              </a:rPr>
              <a:t> </a:t>
            </a:r>
            <a:r>
              <a:rPr lang="en-US" sz="1100">
                <a:solidFill>
                  <a:srgbClr val="16293D"/>
                </a:solidFill>
              </a:rPr>
              <a:t>Large-scale judicial event records across courts and multiple years.</a:t>
            </a:r>
            <a:endParaRPr sz="1100">
              <a:solidFill>
                <a:srgbClr val="16293D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6293D"/>
                </a:solidFill>
                <a:latin typeface="Arial"/>
                <a:ea typeface="Arial"/>
                <a:cs typeface="Arial"/>
                <a:sym typeface="Arial"/>
              </a:rPr>
              <a:t>Variety : </a:t>
            </a:r>
            <a:r>
              <a:rPr lang="en-US" sz="1100">
                <a:solidFill>
                  <a:srgbClr val="16293D"/>
                </a:solidFill>
              </a:rPr>
              <a:t>Heterogeneous judicial data including timestamps, jurisdictions, procedural events, and case states. </a:t>
            </a:r>
            <a:endParaRPr sz="1100">
              <a:solidFill>
                <a:srgbClr val="16293D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6293D"/>
                </a:solidFill>
                <a:latin typeface="Arial"/>
                <a:ea typeface="Arial"/>
                <a:cs typeface="Arial"/>
                <a:sym typeface="Arial"/>
              </a:rPr>
              <a:t>Velocity or refresh rate : </a:t>
            </a:r>
            <a:r>
              <a:rPr lang="en-US" sz="1100">
                <a:solidFill>
                  <a:srgbClr val="16293D"/>
                </a:solidFill>
              </a:rPr>
              <a:t>Continuous updates as new judicial events and case records are generated. </a:t>
            </a:r>
            <a:endParaRPr sz="1100">
              <a:solidFill>
                <a:srgbClr val="16293D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6293D"/>
                </a:solidFill>
                <a:latin typeface="Arial"/>
                <a:ea typeface="Arial"/>
                <a:cs typeface="Arial"/>
                <a:sym typeface="Arial"/>
              </a:rPr>
              <a:t>Why the chosen architecture helps : </a:t>
            </a:r>
            <a:r>
              <a:rPr lang="en-US" sz="1100">
                <a:solidFill>
                  <a:srgbClr val="16293D"/>
                </a:solidFill>
              </a:rPr>
              <a:t>Bronze/Silver/Gold architecture enables scalable ingestion, incremental updates, reliable storage, and efficient analytical processing.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6291072" y="2084831"/>
            <a:ext cx="2157900" cy="29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146300" spcFirstLastPara="1" rIns="109725" wrap="square" tIns="109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100" u="none" cap="none" strike="noStrike">
                <a:solidFill>
                  <a:srgbClr val="16293D"/>
                </a:solidFill>
              </a:rPr>
              <a:t>Approximate data size</a:t>
            </a:r>
            <a:r>
              <a:rPr b="0" i="0" lang="en-US" sz="1100" u="none" cap="none" strike="noStrike">
                <a:solidFill>
                  <a:srgbClr val="16293D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100">
                <a:solidFill>
                  <a:srgbClr val="16293D"/>
                </a:solidFill>
              </a:rPr>
              <a:t>~5M+ judicial records in the database supported by runtime ingestion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100" u="none" cap="none" strike="noStrike">
                <a:solidFill>
                  <a:srgbClr val="16293D"/>
                </a:solidFill>
              </a:rPr>
              <a:t>Growth expectation</a:t>
            </a:r>
            <a:r>
              <a:rPr b="0" i="0" lang="en-US" sz="1100" u="none" cap="none" strike="noStrike">
                <a:solidFill>
                  <a:srgbClr val="16293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>
                <a:solidFill>
                  <a:srgbClr val="16293D"/>
                </a:solidFill>
              </a:rPr>
              <a:t>Continuous dataset expansion through incremental historical ingestion and new case updates </a:t>
            </a:r>
            <a:endParaRPr sz="1100">
              <a:solidFill>
                <a:srgbClr val="16293D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100" u="none" cap="none" strike="noStrike">
                <a:solidFill>
                  <a:srgbClr val="16293D"/>
                </a:solidFill>
              </a:rPr>
              <a:t>Key bottleneck </a:t>
            </a:r>
            <a:r>
              <a:rPr b="0" i="0" lang="en-US" sz="1100" u="none" cap="none" strike="noStrike">
                <a:solidFill>
                  <a:srgbClr val="16293D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100">
                <a:solidFill>
                  <a:srgbClr val="16293D"/>
                </a:solidFill>
              </a:rPr>
              <a:t>	Efficient processing and aggregation of large temporal event-based datasets </a:t>
            </a:r>
            <a:endParaRPr b="0" i="0" sz="1100" u="none" cap="none" strike="noStrike">
              <a:solidFill>
                <a:srgbClr val="16293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100">
              <a:solidFill>
                <a:srgbClr val="16293D"/>
              </a:solidFill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8366760" y="469087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657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7F3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/>
          <p:nvPr/>
        </p:nvSpPr>
        <p:spPr>
          <a:xfrm>
            <a:off x="7818120" y="-685800"/>
            <a:ext cx="2377440" cy="2377440"/>
          </a:xfrm>
          <a:prstGeom prst="ellipse">
            <a:avLst/>
          </a:prstGeom>
          <a:solidFill>
            <a:srgbClr val="E4F2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-822960" y="3977639"/>
            <a:ext cx="2011680" cy="2011680"/>
          </a:xfrm>
          <a:prstGeom prst="ellipse">
            <a:avLst/>
          </a:prstGeom>
          <a:solidFill>
            <a:srgbClr val="F1EAD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384048" y="457200"/>
            <a:ext cx="64008" cy="384048"/>
          </a:xfrm>
          <a:prstGeom prst="rect">
            <a:avLst/>
          </a:prstGeom>
          <a:solidFill>
            <a:srgbClr val="187A6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12064" y="292608"/>
            <a:ext cx="1417320" cy="274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87A6F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512064" y="658368"/>
            <a:ext cx="6766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6293D"/>
                </a:solidFill>
                <a:latin typeface="Play"/>
                <a:ea typeface="Play"/>
                <a:cs typeface="Play"/>
                <a:sym typeface="Play"/>
              </a:rPr>
              <a:t>Data Sources, Quality, And Scope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512064" y="1078992"/>
            <a:ext cx="74980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76575"/>
                </a:solidFill>
                <a:latin typeface="Arial"/>
                <a:ea typeface="Arial"/>
                <a:cs typeface="Arial"/>
                <a:sym typeface="Arial"/>
              </a:rPr>
              <a:t>Summarize the data used in the project.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84300" y="1293525"/>
            <a:ext cx="7651500" cy="3645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EE2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8366760" y="469087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6575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0" name="Google Shape;170;p6"/>
          <p:cNvGraphicFramePr/>
          <p:nvPr/>
        </p:nvGraphicFramePr>
        <p:xfrm>
          <a:off x="946263" y="1335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{3D4FFB22-3C65-4DAF-B08D-F1B4F6C1D308}</a:tableStyleId>
              </a:tblPr>
              <a:tblGrid>
                <a:gridCol w="1645000"/>
                <a:gridCol w="1645000"/>
                <a:gridCol w="1645000"/>
                <a:gridCol w="1645000"/>
              </a:tblGrid>
              <a:tr h="67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Data sources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Coverage and format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Quality issues or constraints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Preprocessing steps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807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CourtListener public litigation API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REST / JSON event-based judicial records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Multi-court procedural and temporal case data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Coverage period: 1934–2026 (strongly biased in the period 2023-2026)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~5M+  judicial records in database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~ discretionary runtime ingestion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JSON ingestion → parquet analytical layers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Multi-year event-based litigation dataset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Incomplete judicial coverage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Strong imbalance between active and resolved cases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Sparse termination observations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Right-censoring effects on duration metrics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Data volume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Paginated API ingestion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Temporal normalization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Schema harmonization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Deduplication and cleaning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Bronze → Silver → Gold transformation workflow using Kafka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7F3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"/>
          <p:cNvSpPr/>
          <p:nvPr/>
        </p:nvSpPr>
        <p:spPr>
          <a:xfrm>
            <a:off x="7818120" y="-685800"/>
            <a:ext cx="2377440" cy="2377440"/>
          </a:xfrm>
          <a:prstGeom prst="ellipse">
            <a:avLst/>
          </a:prstGeom>
          <a:solidFill>
            <a:srgbClr val="E4F2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-822960" y="3977639"/>
            <a:ext cx="2011680" cy="2011680"/>
          </a:xfrm>
          <a:prstGeom prst="ellipse">
            <a:avLst/>
          </a:prstGeom>
          <a:solidFill>
            <a:srgbClr val="F1EAD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84048" y="457200"/>
            <a:ext cx="64008" cy="384048"/>
          </a:xfrm>
          <a:prstGeom prst="rect">
            <a:avLst/>
          </a:prstGeom>
          <a:solidFill>
            <a:srgbClr val="187A6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512064" y="292608"/>
            <a:ext cx="1417320" cy="274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87A6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 txBox="1"/>
          <p:nvPr/>
        </p:nvSpPr>
        <p:spPr>
          <a:xfrm>
            <a:off x="512064" y="658368"/>
            <a:ext cx="6766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6293D"/>
                </a:solidFill>
                <a:latin typeface="Play"/>
                <a:ea typeface="Play"/>
                <a:cs typeface="Play"/>
                <a:sym typeface="Play"/>
              </a:rPr>
              <a:t>Architecture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 txBox="1"/>
          <p:nvPr/>
        </p:nvSpPr>
        <p:spPr>
          <a:xfrm>
            <a:off x="8366760" y="469087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6575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1120" y="1249680"/>
            <a:ext cx="6324602" cy="3614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7F3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/>
          <p:nvPr/>
        </p:nvSpPr>
        <p:spPr>
          <a:xfrm>
            <a:off x="7818120" y="-685800"/>
            <a:ext cx="2377440" cy="2377440"/>
          </a:xfrm>
          <a:prstGeom prst="ellipse">
            <a:avLst/>
          </a:prstGeom>
          <a:solidFill>
            <a:srgbClr val="E4F2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-822960" y="3977639"/>
            <a:ext cx="2011680" cy="2011680"/>
          </a:xfrm>
          <a:prstGeom prst="ellipse">
            <a:avLst/>
          </a:prstGeom>
          <a:solidFill>
            <a:srgbClr val="F1EAD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384048" y="457200"/>
            <a:ext cx="64008" cy="384048"/>
          </a:xfrm>
          <a:prstGeom prst="rect">
            <a:avLst/>
          </a:prstGeom>
          <a:solidFill>
            <a:srgbClr val="187A6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512064" y="292608"/>
            <a:ext cx="1417320" cy="274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87A6F"/>
                </a:solidFill>
                <a:latin typeface="Arial"/>
                <a:ea typeface="Arial"/>
                <a:cs typeface="Arial"/>
                <a:sym typeface="Arial"/>
              </a:rPr>
              <a:t>PIPELINE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 txBox="1"/>
          <p:nvPr/>
        </p:nvSpPr>
        <p:spPr>
          <a:xfrm>
            <a:off x="512064" y="658368"/>
            <a:ext cx="6766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6293D"/>
                </a:solidFill>
                <a:latin typeface="Play"/>
                <a:ea typeface="Play"/>
                <a:cs typeface="Play"/>
                <a:sym typeface="Play"/>
              </a:rPr>
              <a:t>Data Flow, Runtime, And Deployment 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512064" y="1078992"/>
            <a:ext cx="74980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76575"/>
                </a:solidFill>
                <a:latin typeface="Arial"/>
                <a:ea typeface="Arial"/>
                <a:cs typeface="Arial"/>
                <a:sym typeface="Arial"/>
              </a:rPr>
              <a:t>How data moves from ingestion to output.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512064" y="1554480"/>
            <a:ext cx="201168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EE2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2740175" y="1335024"/>
            <a:ext cx="5870400" cy="351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EE2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2775676" y="1362330"/>
            <a:ext cx="5870400" cy="201300"/>
          </a:xfrm>
          <a:prstGeom prst="rect">
            <a:avLst/>
          </a:prstGeom>
          <a:solidFill>
            <a:srgbClr val="F1EAD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 txBox="1"/>
          <p:nvPr/>
        </p:nvSpPr>
        <p:spPr>
          <a:xfrm>
            <a:off x="3115932" y="1378368"/>
            <a:ext cx="1828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47C5B"/>
                </a:solidFill>
                <a:latin typeface="Arial"/>
                <a:ea typeface="Arial"/>
                <a:cs typeface="Arial"/>
                <a:sym typeface="Arial"/>
              </a:rPr>
              <a:t>Flow diagram area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2995125" y="1667375"/>
            <a:ext cx="5431500" cy="2973300"/>
          </a:xfrm>
          <a:prstGeom prst="roundRect">
            <a:avLst>
              <a:gd fmla="val 16667" name="adj"/>
            </a:avLst>
          </a:prstGeom>
          <a:solidFill>
            <a:srgbClr val="EEF1F4"/>
          </a:solidFill>
          <a:ln cap="flat" cmpd="sng" w="10150">
            <a:solidFill>
              <a:srgbClr val="D3D9D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8894A1"/>
                </a:solidFill>
                <a:latin typeface="Play"/>
                <a:ea typeface="Play"/>
                <a:cs typeface="Play"/>
                <a:sym typeface="Play"/>
              </a:rPr>
              <a:t>CourtListener API</a:t>
            </a:r>
            <a:endParaRPr b="1">
              <a:solidFill>
                <a:srgbClr val="8894A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8894A1"/>
                </a:solidFill>
                <a:latin typeface="Play"/>
                <a:ea typeface="Play"/>
                <a:cs typeface="Play"/>
                <a:sym typeface="Play"/>
              </a:rPr>
              <a:t>        ↓</a:t>
            </a:r>
            <a:endParaRPr b="1">
              <a:solidFill>
                <a:srgbClr val="8894A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8894A1"/>
                </a:solidFill>
                <a:latin typeface="Play"/>
                <a:ea typeface="Play"/>
                <a:cs typeface="Play"/>
                <a:sym typeface="Play"/>
              </a:rPr>
              <a:t>Incremental ingestion</a:t>
            </a:r>
            <a:endParaRPr b="1">
              <a:solidFill>
                <a:srgbClr val="8894A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8894A1"/>
                </a:solidFill>
                <a:latin typeface="Play"/>
                <a:ea typeface="Play"/>
                <a:cs typeface="Play"/>
                <a:sym typeface="Play"/>
              </a:rPr>
              <a:t>        ↓</a:t>
            </a:r>
            <a:endParaRPr b="1">
              <a:solidFill>
                <a:srgbClr val="8894A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8894A1"/>
                </a:solidFill>
                <a:latin typeface="Play"/>
                <a:ea typeface="Play"/>
                <a:cs typeface="Play"/>
                <a:sym typeface="Play"/>
              </a:rPr>
              <a:t>Bronze raw storage</a:t>
            </a:r>
            <a:endParaRPr b="1">
              <a:solidFill>
                <a:srgbClr val="8894A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8894A1"/>
                </a:solidFill>
                <a:latin typeface="Play"/>
                <a:ea typeface="Play"/>
                <a:cs typeface="Play"/>
                <a:sym typeface="Play"/>
              </a:rPr>
              <a:t>        ↓</a:t>
            </a:r>
            <a:endParaRPr b="1">
              <a:solidFill>
                <a:srgbClr val="8894A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8894A1"/>
                </a:solidFill>
                <a:latin typeface="Play"/>
                <a:ea typeface="Play"/>
                <a:cs typeface="Play"/>
                <a:sym typeface="Play"/>
              </a:rPr>
              <a:t>Silver cleaning</a:t>
            </a:r>
            <a:endParaRPr b="1">
              <a:solidFill>
                <a:srgbClr val="8894A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8894A1"/>
                </a:solidFill>
                <a:latin typeface="Play"/>
                <a:ea typeface="Play"/>
                <a:cs typeface="Play"/>
                <a:sym typeface="Play"/>
              </a:rPr>
              <a:t>        ↓</a:t>
            </a:r>
            <a:endParaRPr b="1">
              <a:solidFill>
                <a:srgbClr val="8894A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8894A1"/>
                </a:solidFill>
                <a:latin typeface="Play"/>
                <a:ea typeface="Play"/>
                <a:cs typeface="Play"/>
                <a:sym typeface="Play"/>
              </a:rPr>
              <a:t>Gold KPI computation</a:t>
            </a:r>
            <a:endParaRPr b="1">
              <a:solidFill>
                <a:srgbClr val="8894A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8894A1"/>
                </a:solidFill>
                <a:latin typeface="Play"/>
                <a:ea typeface="Play"/>
                <a:cs typeface="Play"/>
                <a:sym typeface="Play"/>
              </a:rPr>
              <a:t>        ↓</a:t>
            </a:r>
            <a:endParaRPr b="1">
              <a:solidFill>
                <a:srgbClr val="8894A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8894A1"/>
                </a:solidFill>
                <a:latin typeface="Play"/>
                <a:ea typeface="Play"/>
                <a:cs typeface="Play"/>
                <a:sym typeface="Play"/>
              </a:rPr>
              <a:t>DuckDB analytics</a:t>
            </a:r>
            <a:endParaRPr b="1">
              <a:solidFill>
                <a:srgbClr val="8894A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8894A1"/>
                </a:solidFill>
                <a:latin typeface="Play"/>
                <a:ea typeface="Play"/>
                <a:cs typeface="Play"/>
                <a:sym typeface="Play"/>
              </a:rPr>
              <a:t>        ↓</a:t>
            </a:r>
            <a:endParaRPr b="1">
              <a:solidFill>
                <a:srgbClr val="8894A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8894A1"/>
                </a:solidFill>
                <a:latin typeface="Play"/>
                <a:ea typeface="Play"/>
                <a:cs typeface="Play"/>
                <a:sym typeface="Play"/>
              </a:rPr>
              <a:t>Streamlit dashboard</a:t>
            </a:r>
            <a:endParaRPr b="1">
              <a:solidFill>
                <a:srgbClr val="8894A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>
              <a:solidFill>
                <a:srgbClr val="8894A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97" name="Google Shape;197;p8"/>
          <p:cNvSpPr txBox="1"/>
          <p:nvPr/>
        </p:nvSpPr>
        <p:spPr>
          <a:xfrm>
            <a:off x="8366760" y="469087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6575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618513" y="1581800"/>
            <a:ext cx="17988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Runtime pipeline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Incremental ingestion using Kafka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Bronze → Silver → Gold workflow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Docker-supported execution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Analytical KPI generation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7F3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/>
          <p:nvPr/>
        </p:nvSpPr>
        <p:spPr>
          <a:xfrm>
            <a:off x="7818120" y="-685800"/>
            <a:ext cx="2377440" cy="2377440"/>
          </a:xfrm>
          <a:prstGeom prst="ellipse">
            <a:avLst/>
          </a:prstGeom>
          <a:solidFill>
            <a:srgbClr val="E4F2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-822960" y="3977639"/>
            <a:ext cx="2011680" cy="2011680"/>
          </a:xfrm>
          <a:prstGeom prst="ellipse">
            <a:avLst/>
          </a:prstGeom>
          <a:solidFill>
            <a:srgbClr val="F1EAD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384048" y="457200"/>
            <a:ext cx="64008" cy="384048"/>
          </a:xfrm>
          <a:prstGeom prst="rect">
            <a:avLst/>
          </a:prstGeom>
          <a:solidFill>
            <a:srgbClr val="187A6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512064" y="292608"/>
            <a:ext cx="1417320" cy="274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87A6F"/>
                </a:solidFill>
                <a:latin typeface="Arial"/>
                <a:ea typeface="Arial"/>
                <a:cs typeface="Arial"/>
                <a:sym typeface="Arial"/>
              </a:rPr>
              <a:t>CHOICES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"/>
          <p:cNvSpPr txBox="1"/>
          <p:nvPr/>
        </p:nvSpPr>
        <p:spPr>
          <a:xfrm>
            <a:off x="512064" y="658368"/>
            <a:ext cx="6766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6293D"/>
                </a:solidFill>
                <a:latin typeface="Play"/>
                <a:ea typeface="Play"/>
                <a:cs typeface="Play"/>
                <a:sym typeface="Play"/>
              </a:rPr>
              <a:t>Design Decisions And Trade-offs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512064" y="1078992"/>
            <a:ext cx="74980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76575"/>
                </a:solidFill>
                <a:latin typeface="Arial"/>
                <a:ea typeface="Arial"/>
                <a:cs typeface="Arial"/>
                <a:sym typeface="Arial"/>
              </a:rPr>
              <a:t>Key technology choices behind the project.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512064" y="1554480"/>
            <a:ext cx="539496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EE2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6126480" y="1554480"/>
            <a:ext cx="2505456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EE2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6126480" y="1554480"/>
            <a:ext cx="2505456" cy="201168"/>
          </a:xfrm>
          <a:prstGeom prst="rect">
            <a:avLst/>
          </a:prstGeom>
          <a:solidFill>
            <a:srgbClr val="E4F2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6556300" y="1554475"/>
            <a:ext cx="16458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Main trade-offs</a:t>
            </a:r>
            <a:endParaRPr b="1"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187A6F"/>
              </a:solidFill>
            </a:endParaRPr>
          </a:p>
        </p:txBody>
      </p:sp>
      <p:sp>
        <p:nvSpPr>
          <p:cNvPr id="213" name="Google Shape;213;p9"/>
          <p:cNvSpPr txBox="1"/>
          <p:nvPr/>
        </p:nvSpPr>
        <p:spPr>
          <a:xfrm>
            <a:off x="5977025" y="1784175"/>
            <a:ext cx="2602500" cy="27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146300" spcFirstLastPara="1" rIns="109725" wrap="square" tIns="1097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Local pipeline over distributed infrastructure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Batch incremental processing instead of real-time streaming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Simplicity prioritized over large-scale orchestration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rgbClr val="16293D"/>
              </a:solidFill>
            </a:endParaRPr>
          </a:p>
        </p:txBody>
      </p:sp>
      <p:sp>
        <p:nvSpPr>
          <p:cNvPr id="214" name="Google Shape;214;p9"/>
          <p:cNvSpPr txBox="1"/>
          <p:nvPr/>
        </p:nvSpPr>
        <p:spPr>
          <a:xfrm>
            <a:off x="8366760" y="469087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6575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5" name="Google Shape;215;p9"/>
          <p:cNvGraphicFramePr/>
          <p:nvPr/>
        </p:nvGraphicFramePr>
        <p:xfrm>
          <a:off x="732750" y="15575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{3D4FFB22-3C65-4DAF-B08D-F1B4F6C1D308}</a:tableStyleId>
              </a:tblPr>
              <a:tblGrid>
                <a:gridCol w="2476800"/>
                <a:gridCol w="2476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Technology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Purpose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Python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Data ingestion &amp; processing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Parquet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Analytical storage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DuckDB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Fast OLAP querying, storage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Streamlit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Interactive dashboard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CourtListener API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Judicial data source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Kafka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Streaming ingestion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7F3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"/>
          <p:cNvSpPr/>
          <p:nvPr/>
        </p:nvSpPr>
        <p:spPr>
          <a:xfrm>
            <a:off x="7818120" y="-685800"/>
            <a:ext cx="2377440" cy="2377440"/>
          </a:xfrm>
          <a:prstGeom prst="ellipse">
            <a:avLst/>
          </a:prstGeom>
          <a:solidFill>
            <a:srgbClr val="E4F2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-822960" y="3977639"/>
            <a:ext cx="2011680" cy="2011680"/>
          </a:xfrm>
          <a:prstGeom prst="ellipse">
            <a:avLst/>
          </a:prstGeom>
          <a:solidFill>
            <a:srgbClr val="F1EAD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384048" y="457200"/>
            <a:ext cx="64008" cy="384048"/>
          </a:xfrm>
          <a:prstGeom prst="rect">
            <a:avLst/>
          </a:prstGeom>
          <a:solidFill>
            <a:srgbClr val="187A6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512064" y="292608"/>
            <a:ext cx="1417320" cy="274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87A6F"/>
                </a:solidFill>
                <a:latin typeface="Arial"/>
                <a:ea typeface="Arial"/>
                <a:cs typeface="Arial"/>
                <a:sym typeface="Arial"/>
              </a:rPr>
              <a:t>REPRO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0"/>
          <p:cNvSpPr txBox="1"/>
          <p:nvPr/>
        </p:nvSpPr>
        <p:spPr>
          <a:xfrm>
            <a:off x="512064" y="658368"/>
            <a:ext cx="6766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6293D"/>
                </a:solidFill>
                <a:latin typeface="Play"/>
                <a:ea typeface="Play"/>
                <a:cs typeface="Play"/>
                <a:sym typeface="Play"/>
              </a:rPr>
              <a:t>Reproducibility And Repository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0"/>
          <p:cNvSpPr txBox="1"/>
          <p:nvPr/>
        </p:nvSpPr>
        <p:spPr>
          <a:xfrm>
            <a:off x="512064" y="1078992"/>
            <a:ext cx="74980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76575"/>
                </a:solidFill>
                <a:latin typeface="Arial"/>
                <a:ea typeface="Arial"/>
                <a:cs typeface="Arial"/>
                <a:sym typeface="Arial"/>
              </a:rPr>
              <a:t>Where the code lives and how to run the project.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512064" y="1554480"/>
            <a:ext cx="539490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EE2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6126480" y="1554480"/>
            <a:ext cx="2505456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EE2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6126480" y="1554480"/>
            <a:ext cx="2505456" cy="201168"/>
          </a:xfrm>
          <a:prstGeom prst="rect">
            <a:avLst/>
          </a:prstGeom>
          <a:solidFill>
            <a:srgbClr val="E4F2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8366760" y="469087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6575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0" name="Google Shape;230;p10"/>
          <p:cNvGraphicFramePr/>
          <p:nvPr/>
        </p:nvGraphicFramePr>
        <p:xfrm>
          <a:off x="659356" y="15406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{3D4FFB22-3C65-4DAF-B08D-F1B4F6C1D308}</a:tableStyleId>
              </a:tblPr>
              <a:tblGrid>
                <a:gridCol w="5326075"/>
              </a:tblGrid>
              <a:tr h="809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Repository &amp; structure : </a:t>
                      </a:r>
                      <a:endParaRPr b="1"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Modular repository organization</a:t>
                      </a:r>
                      <a:endParaRPr sz="7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Separate ingestion, Bronze, Silver, Gold, and dashboard layers </a:t>
                      </a:r>
                      <a:endParaRPr sz="7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GitHub-based version control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809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Prerequisites :</a:t>
                      </a:r>
                      <a:endParaRPr b="1"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Python 3.12 environment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Required dependencies from </a:t>
                      </a:r>
                      <a:r>
                        <a:rPr lang="en-US" sz="7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requirements.txt</a:t>
                      </a:r>
                      <a:endParaRPr sz="7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CourtListener API access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Docker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How to run :</a:t>
                      </a:r>
                      <a:r>
                        <a:rPr lang="en-US" sz="1200"/>
                        <a:t> 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ingestion and processing: python run_kafka.py; python run_gold_pipeline.py</a:t>
                      </a:r>
                      <a:endParaRPr sz="7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dashboard: python -m streamlit run "./dashboard.py"</a:t>
                      </a:r>
                      <a:endParaRPr sz="700"/>
                    </a:p>
                  </a:txBody>
                  <a:tcPr marT="91425" marB="91425" marR="91425" marL="91425"/>
                </a:tc>
              </a:tr>
              <a:tr h="31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Inputs and outputs :</a:t>
                      </a:r>
                      <a:r>
                        <a:rPr lang="en-US" sz="1200"/>
                        <a:t> </a:t>
                      </a:r>
                      <a:endParaRPr sz="1200"/>
                    </a:p>
                    <a:p>
                      <a:pPr indent="-2730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700"/>
                        <a:buChar char="●"/>
                      </a:pPr>
                      <a:r>
                        <a:rPr lang="en-US" sz="700"/>
                        <a:t>Input: CourtListener judicial event records</a:t>
                      </a:r>
                      <a:endParaRPr sz="700"/>
                    </a:p>
                    <a:p>
                      <a:pPr indent="-2730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700"/>
                        <a:buChar char="●"/>
                      </a:pPr>
                      <a:r>
                        <a:rPr lang="en-US" sz="700"/>
                        <a:t>Output: parquet analytical datasets and dashboard KPIs</a:t>
                      </a:r>
                      <a:endParaRPr sz="7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1" name="Google Shape;231;p10"/>
          <p:cNvSpPr txBox="1"/>
          <p:nvPr/>
        </p:nvSpPr>
        <p:spPr>
          <a:xfrm>
            <a:off x="6126475" y="1924775"/>
            <a:ext cx="2817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Paths : </a:t>
            </a:r>
            <a:endParaRPr b="1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silver/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gold/metrics/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7F3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"/>
          <p:cNvSpPr/>
          <p:nvPr/>
        </p:nvSpPr>
        <p:spPr>
          <a:xfrm>
            <a:off x="7818120" y="-685800"/>
            <a:ext cx="2377440" cy="2377440"/>
          </a:xfrm>
          <a:prstGeom prst="ellipse">
            <a:avLst/>
          </a:prstGeom>
          <a:solidFill>
            <a:srgbClr val="E4F2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-822960" y="3977639"/>
            <a:ext cx="2011680" cy="2011680"/>
          </a:xfrm>
          <a:prstGeom prst="ellipse">
            <a:avLst/>
          </a:prstGeom>
          <a:solidFill>
            <a:srgbClr val="F1EAD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384048" y="457200"/>
            <a:ext cx="64008" cy="384048"/>
          </a:xfrm>
          <a:prstGeom prst="rect">
            <a:avLst/>
          </a:prstGeom>
          <a:solidFill>
            <a:srgbClr val="187A6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512064" y="292608"/>
            <a:ext cx="1417320" cy="274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87A6F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1"/>
          <p:cNvSpPr txBox="1"/>
          <p:nvPr/>
        </p:nvSpPr>
        <p:spPr>
          <a:xfrm>
            <a:off x="512064" y="658368"/>
            <a:ext cx="6766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6293D"/>
                </a:solidFill>
                <a:latin typeface="Play"/>
                <a:ea typeface="Play"/>
                <a:cs typeface="Play"/>
                <a:sym typeface="Play"/>
              </a:rPr>
              <a:t>Results: Functional Evidence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"/>
          <p:cNvSpPr txBox="1"/>
          <p:nvPr/>
        </p:nvSpPr>
        <p:spPr>
          <a:xfrm>
            <a:off x="512064" y="1078992"/>
            <a:ext cx="74980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76575"/>
                </a:solidFill>
                <a:latin typeface="Arial"/>
                <a:ea typeface="Arial"/>
                <a:cs typeface="Arial"/>
                <a:sym typeface="Arial"/>
              </a:rPr>
              <a:t>Main outputs and task-level results.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512064" y="1554480"/>
            <a:ext cx="201168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EE2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2761500" y="1554474"/>
            <a:ext cx="5870400" cy="3447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EE2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2761488" y="1554480"/>
            <a:ext cx="5870448" cy="201168"/>
          </a:xfrm>
          <a:prstGeom prst="rect">
            <a:avLst/>
          </a:prstGeom>
          <a:solidFill>
            <a:srgbClr val="F1EAD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 txBox="1"/>
          <p:nvPr/>
        </p:nvSpPr>
        <p:spPr>
          <a:xfrm>
            <a:off x="2980944" y="1554480"/>
            <a:ext cx="1828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47C5B"/>
                </a:solidFill>
                <a:latin typeface="Arial"/>
                <a:ea typeface="Arial"/>
                <a:cs typeface="Arial"/>
                <a:sym typeface="Arial"/>
              </a:rPr>
              <a:t>Results area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1"/>
          <p:cNvSpPr txBox="1"/>
          <p:nvPr/>
        </p:nvSpPr>
        <p:spPr>
          <a:xfrm>
            <a:off x="8366760" y="469087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6575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1"/>
          <p:cNvSpPr txBox="1"/>
          <p:nvPr/>
        </p:nvSpPr>
        <p:spPr>
          <a:xfrm>
            <a:off x="512075" y="1731250"/>
            <a:ext cx="1879200" cy="23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Metric 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Judicial backlog evolution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Baseline 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Incoming cases exceed resolved cases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example 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Temporal backlog accumulation across courts and years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Takeaway 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Persistent inflow &gt; outflow drives long-term judicial congestion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 txBox="1"/>
          <p:nvPr/>
        </p:nvSpPr>
        <p:spPr>
          <a:xfrm>
            <a:off x="3003750" y="4106950"/>
            <a:ext cx="5385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Persistent inflow &gt; outflow generates sustained backlog accumulation.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11" title="newplot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1500" y="1975100"/>
            <a:ext cx="5870400" cy="19843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EE2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7F3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"/>
          <p:cNvSpPr/>
          <p:nvPr/>
        </p:nvSpPr>
        <p:spPr>
          <a:xfrm>
            <a:off x="7818120" y="-685800"/>
            <a:ext cx="2377440" cy="2377440"/>
          </a:xfrm>
          <a:prstGeom prst="ellipse">
            <a:avLst/>
          </a:prstGeom>
          <a:solidFill>
            <a:srgbClr val="E4F2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-822960" y="3977639"/>
            <a:ext cx="2011680" cy="2011680"/>
          </a:xfrm>
          <a:prstGeom prst="ellipse">
            <a:avLst/>
          </a:prstGeom>
          <a:solidFill>
            <a:srgbClr val="F1EAD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384048" y="457200"/>
            <a:ext cx="64008" cy="384048"/>
          </a:xfrm>
          <a:prstGeom prst="rect">
            <a:avLst/>
          </a:prstGeom>
          <a:solidFill>
            <a:srgbClr val="187A6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512064" y="292608"/>
            <a:ext cx="1417320" cy="274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87A6F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2"/>
          <p:cNvSpPr txBox="1"/>
          <p:nvPr/>
        </p:nvSpPr>
        <p:spPr>
          <a:xfrm>
            <a:off x="512064" y="658368"/>
            <a:ext cx="6766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6293D"/>
                </a:solidFill>
                <a:latin typeface="Play"/>
                <a:ea typeface="Play"/>
                <a:cs typeface="Play"/>
                <a:sym typeface="Play"/>
              </a:rPr>
              <a:t>Results: System And Performance Evidence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512075" y="1285150"/>
            <a:ext cx="2011800" cy="3768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EE2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 txBox="1"/>
          <p:nvPr/>
        </p:nvSpPr>
        <p:spPr>
          <a:xfrm>
            <a:off x="521900" y="1422624"/>
            <a:ext cx="2011800" cy="3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146300" spcFirstLastPara="1" rIns="109725" wrap="square" tIns="109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-US" sz="800">
                <a:solidFill>
                  <a:srgbClr val="16293D"/>
                </a:solidFill>
              </a:rPr>
              <a:t>Runtime: </a:t>
            </a:r>
            <a:r>
              <a:rPr lang="en-US" sz="800">
                <a:solidFill>
                  <a:srgbClr val="16293D"/>
                </a:solidFill>
              </a:rPr>
              <a:t>run as a self-contained incremental batch with per-page checkpointing of seen IDs and delivery-confirmed </a:t>
            </a:r>
            <a:endParaRPr sz="800">
              <a:solidFill>
                <a:srgbClr val="16293D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800">
              <a:solidFill>
                <a:srgbClr val="16293D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-US" sz="800">
                <a:solidFill>
                  <a:srgbClr val="16293D"/>
                </a:solidFill>
              </a:rPr>
              <a:t>T</a:t>
            </a:r>
            <a:r>
              <a:rPr b="1" i="0" lang="en-US" sz="800" u="none" cap="none" strike="noStrike">
                <a:solidFill>
                  <a:srgbClr val="16293D"/>
                </a:solidFill>
              </a:rPr>
              <a:t>hroughput : </a:t>
            </a:r>
            <a:r>
              <a:rPr i="0" lang="en-US" sz="800" u="none" cap="none" strike="noStrike">
                <a:solidFill>
                  <a:srgbClr val="16293D"/>
                </a:solidFill>
              </a:rPr>
              <a:t>Interactive analytic</a:t>
            </a:r>
            <a:r>
              <a:rPr b="0" i="0" lang="en-US" sz="800" u="none" cap="none" strike="noStrike">
                <a:solidFill>
                  <a:srgbClr val="16293D"/>
                </a:solidFill>
                <a:latin typeface="Arial"/>
                <a:ea typeface="Arial"/>
                <a:cs typeface="Arial"/>
                <a:sym typeface="Arial"/>
              </a:rPr>
              <a:t>al querying enabled by DuckDB and parquet storage 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800" u="none" cap="none" strike="noStrike">
                <a:solidFill>
                  <a:srgbClr val="16293D"/>
                </a:solidFill>
              </a:rPr>
              <a:t>Memory or cost</a:t>
            </a:r>
            <a:r>
              <a:rPr b="0" i="0" lang="en-US" sz="800" u="none" cap="none" strike="noStrike">
                <a:solidFill>
                  <a:srgbClr val="16293D"/>
                </a:solidFill>
                <a:latin typeface="Arial"/>
                <a:ea typeface="Arial"/>
                <a:cs typeface="Arial"/>
                <a:sym typeface="Arial"/>
              </a:rPr>
              <a:t> : Columnar parquet storage reduces analytical overhead and supports efficient querying </a:t>
            </a:r>
            <a:endParaRPr b="0" i="0" sz="800" u="none" cap="none" strike="noStrike">
              <a:solidFill>
                <a:srgbClr val="16293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-US" sz="800">
                <a:solidFill>
                  <a:srgbClr val="16293D"/>
                </a:solidFill>
              </a:rPr>
              <a:t>Storage efficiency</a:t>
            </a:r>
            <a:r>
              <a:rPr lang="en-US" sz="800">
                <a:solidFill>
                  <a:srgbClr val="16293D"/>
                </a:solidFill>
              </a:rPr>
              <a:t> : data compressed into lightweight parquet analytical layers </a:t>
            </a:r>
            <a:endParaRPr sz="800">
              <a:solidFill>
                <a:srgbClr val="16293D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800" u="none" cap="none" strike="noStrike">
                <a:solidFill>
                  <a:srgbClr val="16293D"/>
                </a:solidFill>
              </a:rPr>
              <a:t>Scalability</a:t>
            </a:r>
            <a:r>
              <a:rPr b="0" i="0" lang="en-US" sz="800" u="none" cap="none" strike="noStrike">
                <a:solidFill>
                  <a:srgbClr val="16293D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lang="en-US" sz="800">
                <a:solidFill>
                  <a:srgbClr val="16293D"/>
                </a:solidFill>
              </a:rPr>
              <a:t>Scalability: seen ids deduplication prevents reprocessing of records, so ingestion cost scales with the size of each incremental delta, not the size of the historical dataset.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800" u="none" cap="none" strike="noStrike">
                <a:solidFill>
                  <a:srgbClr val="16293D"/>
                </a:solidFill>
              </a:rPr>
              <a:t>Bottleneck</a:t>
            </a:r>
            <a:r>
              <a:rPr b="0" i="0" lang="en-US" sz="800" u="none" cap="none" strike="noStrike">
                <a:solidFill>
                  <a:srgbClr val="16293D"/>
                </a:solidFill>
                <a:latin typeface="Arial"/>
                <a:ea typeface="Arial"/>
                <a:cs typeface="Arial"/>
                <a:sym typeface="Arial"/>
              </a:rPr>
              <a:t> : Strong active/resolved imbalance and temporal aggregation complexity 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2"/>
          <p:cNvSpPr txBox="1"/>
          <p:nvPr/>
        </p:nvSpPr>
        <p:spPr>
          <a:xfrm>
            <a:off x="8366760" y="469087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6575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6275" y="1844040"/>
            <a:ext cx="6315328" cy="2523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7F3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"/>
          <p:cNvSpPr/>
          <p:nvPr/>
        </p:nvSpPr>
        <p:spPr>
          <a:xfrm>
            <a:off x="7818120" y="-685800"/>
            <a:ext cx="2377440" cy="2377440"/>
          </a:xfrm>
          <a:prstGeom prst="ellipse">
            <a:avLst/>
          </a:prstGeom>
          <a:solidFill>
            <a:srgbClr val="E4F2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-822960" y="3977639"/>
            <a:ext cx="2011680" cy="2011680"/>
          </a:xfrm>
          <a:prstGeom prst="ellipse">
            <a:avLst/>
          </a:prstGeom>
          <a:solidFill>
            <a:srgbClr val="F1EAD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384048" y="457200"/>
            <a:ext cx="64008" cy="384048"/>
          </a:xfrm>
          <a:prstGeom prst="rect">
            <a:avLst/>
          </a:prstGeom>
          <a:solidFill>
            <a:srgbClr val="187A6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512064" y="292608"/>
            <a:ext cx="1417320" cy="274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87A6F"/>
                </a:solidFill>
                <a:latin typeface="Arial"/>
                <a:ea typeface="Arial"/>
                <a:cs typeface="Arial"/>
                <a:sym typeface="Arial"/>
              </a:rPr>
              <a:t>REFLECTION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3"/>
          <p:cNvSpPr txBox="1"/>
          <p:nvPr/>
        </p:nvSpPr>
        <p:spPr>
          <a:xfrm>
            <a:off x="512064" y="658368"/>
            <a:ext cx="6766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6293D"/>
                </a:solidFill>
                <a:latin typeface="Play"/>
                <a:ea typeface="Play"/>
                <a:cs typeface="Play"/>
                <a:sym typeface="Play"/>
              </a:rPr>
              <a:t>Limitations, Lessons, And Next Steps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3"/>
          <p:cNvSpPr txBox="1"/>
          <p:nvPr/>
        </p:nvSpPr>
        <p:spPr>
          <a:xfrm>
            <a:off x="512064" y="1078992"/>
            <a:ext cx="74980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76575"/>
                </a:solidFill>
                <a:latin typeface="Arial"/>
                <a:ea typeface="Arial"/>
                <a:cs typeface="Arial"/>
                <a:sym typeface="Arial"/>
              </a:rPr>
              <a:t>Wrap up the project with an honest reflection.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512064" y="1554480"/>
            <a:ext cx="539496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EE2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6126480" y="1554480"/>
            <a:ext cx="2505456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EE2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6126480" y="1554480"/>
            <a:ext cx="2505456" cy="201168"/>
          </a:xfrm>
          <a:prstGeom prst="rect">
            <a:avLst/>
          </a:prstGeom>
          <a:solidFill>
            <a:srgbClr val="E4F2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 txBox="1"/>
          <p:nvPr/>
        </p:nvSpPr>
        <p:spPr>
          <a:xfrm>
            <a:off x="8366760" y="469087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6575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3"/>
          <p:cNvSpPr txBox="1"/>
          <p:nvPr/>
        </p:nvSpPr>
        <p:spPr>
          <a:xfrm>
            <a:off x="835600" y="1821000"/>
            <a:ext cx="33189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limitations 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Incomplete judicial coverage from the public API (using backlog from 2020 onwards and cases terminated from 2023 onwards)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imbalance between active and resolved cases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lesson learned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Incremental Medallion architectures provide reliable analytical workflows for temporal judicial data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Next-step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Automated scheduled ingestion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Extended analytical KPIs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Larger-scale judicial monitoring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 txBox="1"/>
          <p:nvPr/>
        </p:nvSpPr>
        <p:spPr>
          <a:xfrm>
            <a:off x="6240175" y="2011150"/>
            <a:ext cx="2339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Scaling concern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Larger historical ingestion may eventually require distributed orchestration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question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can judicial congestion dynamics be modeled predictively over time?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7F3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/>
          <p:nvPr/>
        </p:nvSpPr>
        <p:spPr>
          <a:xfrm>
            <a:off x="7818120" y="-685800"/>
            <a:ext cx="2377440" cy="2377440"/>
          </a:xfrm>
          <a:prstGeom prst="ellipse">
            <a:avLst/>
          </a:prstGeom>
          <a:solidFill>
            <a:srgbClr val="E4F2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-822960" y="3977639"/>
            <a:ext cx="2011680" cy="2011680"/>
          </a:xfrm>
          <a:prstGeom prst="ellipse">
            <a:avLst/>
          </a:prstGeom>
          <a:solidFill>
            <a:srgbClr val="F1EAD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384048" y="457200"/>
            <a:ext cx="64008" cy="384048"/>
          </a:xfrm>
          <a:prstGeom prst="rect">
            <a:avLst/>
          </a:prstGeom>
          <a:solidFill>
            <a:srgbClr val="187A6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512064" y="292608"/>
            <a:ext cx="1417320" cy="274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87A6F"/>
                </a:solidFill>
                <a:latin typeface="Arial"/>
                <a:ea typeface="Arial"/>
                <a:cs typeface="Arial"/>
                <a:sym typeface="Arial"/>
              </a:rPr>
              <a:t>INTEGRITY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4"/>
          <p:cNvSpPr txBox="1"/>
          <p:nvPr/>
        </p:nvSpPr>
        <p:spPr>
          <a:xfrm>
            <a:off x="512075" y="624575"/>
            <a:ext cx="854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6293D"/>
                </a:solidFill>
                <a:latin typeface="Play"/>
                <a:ea typeface="Play"/>
                <a:cs typeface="Play"/>
                <a:sym typeface="Play"/>
              </a:rPr>
              <a:t>References, Acknowledgments, And GenAI Disclosure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4"/>
          <p:cNvSpPr txBox="1"/>
          <p:nvPr/>
        </p:nvSpPr>
        <p:spPr>
          <a:xfrm>
            <a:off x="512064" y="1078992"/>
            <a:ext cx="74980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76575"/>
                </a:solidFill>
                <a:latin typeface="Arial"/>
                <a:ea typeface="Arial"/>
                <a:cs typeface="Arial"/>
                <a:sym typeface="Arial"/>
              </a:rPr>
              <a:t>Sources, external help, and acknowledgments.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512064" y="1554480"/>
            <a:ext cx="539496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EE2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6126480" y="1554480"/>
            <a:ext cx="2505456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EE2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6126480" y="1554480"/>
            <a:ext cx="2505456" cy="201168"/>
          </a:xfrm>
          <a:prstGeom prst="rect">
            <a:avLst/>
          </a:prstGeom>
          <a:solidFill>
            <a:srgbClr val="E4F2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 txBox="1"/>
          <p:nvPr/>
        </p:nvSpPr>
        <p:spPr>
          <a:xfrm>
            <a:off x="676656" y="2011680"/>
            <a:ext cx="490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146300" spcFirstLastPara="1" rIns="109725" wrap="square" tIns="109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4"/>
          <p:cNvSpPr txBox="1"/>
          <p:nvPr/>
        </p:nvSpPr>
        <p:spPr>
          <a:xfrm>
            <a:off x="8366760" y="469087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6575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4"/>
          <p:cNvSpPr txBox="1"/>
          <p:nvPr/>
        </p:nvSpPr>
        <p:spPr>
          <a:xfrm>
            <a:off x="933550" y="1815250"/>
            <a:ext cx="33189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Datasets and references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CourtListener public litigation API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judicial event records and metadata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Libraries, API, and tools 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/ pandas / DuckDB / Streamlit / parquet / Docker / Kafka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Acknowledgments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r>
              <a:rPr b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University of Trento — Big Data Technologies course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CourtListener open judicial data initiative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GenAI usage 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Generative AI tools were used for code assistance, debugging support, documentation refinement, and presentation structuring, as 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well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 for court processing.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 txBox="1"/>
          <p:nvPr/>
        </p:nvSpPr>
        <p:spPr>
          <a:xfrm>
            <a:off x="6222900" y="1953525"/>
            <a:ext cx="2340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link</a:t>
            </a:r>
            <a:endParaRPr b="1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original: </a:t>
            </a:r>
            <a:r>
              <a:rPr lang="en-US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https://www.courtlistener.com/api/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pre-processed: </a:t>
            </a:r>
            <a:r>
              <a:rPr lang="en-US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https://drive.google.com/drive/folders/1-pogtrR4fofkjftPa86cw_hEXPVQ0G4G?usp=sharing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Contribution credits </a:t>
            </a:r>
            <a:endParaRPr b="1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engineering and architecture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and analytical visualization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KPI design and backlog analytics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